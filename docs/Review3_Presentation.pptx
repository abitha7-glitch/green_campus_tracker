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c1ab23e-7671-9024-a7ec-fffb15631d42}">
          <p14:sldIdLst>
            <p14:sldId id="256"/>
            <p14:sldId id="257"/>
            <p14:sldId id="258"/>
          </p14:sldIdLst>
        </p14:section>
        <p14:section name="The application" id="{be5b6f4e-cbab-678a-75b8-09e85ea47b6e}">
          <p14:sldIdLst>
            <p14:sldId id="259"/>
            <p14:sldId id="260"/>
            <p14:sldId id="261"/>
            <p14:sldId id="262"/>
            <p14:sldId id="263"/>
          </p14:sldIdLst>
        </p14:section>
        <p14:section name="Getting data out" id="{52e8a56a-5ce9-96b5-6478-1f34900d1c13}">
          <p14:sldIdLst>
            <p14:sldId id="264"/>
            <p14:sldId id="265"/>
            <p14:sldId id="266"/>
          </p14:sldIdLst>
        </p14:section>
        <p14:section name="Making sure it's right" id="{9ce12cb7-c38f-cefd-dc26-064cc721f6e6}">
          <p14:sldIdLst>
            <p14:sldId id="267"/>
            <p14:sldId id="268"/>
            <p14:sldId id="269"/>
          </p14:sldIdLst>
        </p14:section>
        <p14:section name="Demo" id="{f70278dc-9f39-7c94-26b9-2710e27b40b4}">
          <p14:sldIdLst>
            <p14:sldId id="270"/>
          </p14:sldIdLst>
        </p14:section>
        <p14:section name="Closing" id="{59b5aa60-7919-f597-35d9-33dfe403539b}">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CO2e by scope</c:v>
                </c:pt>
              </c:strCache>
            </c:strRef>
          </c:tx>
          <c:spPr>
            <a:solidFill>
              <a:schemeClr val="accent1"/>
            </a:solidFill>
            <a:ln w="9525" cap="flat">
              <a:solidFill>
                <a:srgbClr val="F9F9F9"/>
              </a:solidFill>
              <a:prstDash val="solid"/>
              <a:round/>
            </a:ln>
            <a:effectLst/>
          </c:spPr>
          <c:dPt>
            <c:idx val="0"/>
            <c:bubble3D val="0"/>
            <c:spPr>
              <a:solidFill>
                <a:srgbClr val="3D6E9E"/>
              </a:solidFill>
              <a:ln w="19050" cap="flat">
                <a:solidFill>
                  <a:srgbClr val="FFFFFF"/>
                </a:solidFill>
                <a:prstDash val="solid"/>
                <a:round/>
              </a:ln>
              <a:effectLst/>
            </c:spPr>
          </c:dPt>
          <c:dPt>
            <c:idx val="1"/>
            <c:bubble3D val="0"/>
            <c:spPr>
              <a:solidFill>
                <a:srgbClr val="D9822B"/>
              </a:solidFill>
              <a:ln w="19050" cap="flat">
                <a:solidFill>
                  <a:srgbClr val="FFFFFF"/>
                </a:solidFill>
                <a:prstDash val="solid"/>
                <a:round/>
              </a:ln>
              <a:effectLst/>
            </c:spPr>
          </c:dPt>
          <c:dPt>
            <c:idx val="2"/>
            <c:bubble3D val="0"/>
            <c:spPr>
              <a:solidFill>
                <a:srgbClr val="8A7FA8"/>
              </a:solidFill>
              <a:ln w="1905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Scope 2</c:v>
                </c:pt>
                <c:pt idx="1">
                  <c:v>Scope 1</c:v>
                </c:pt>
                <c:pt idx="2">
                  <c:v>Scope 3</c:v>
                </c:pt>
              </c:strCache>
            </c:strRef>
          </c:cat>
          <c:val>
            <c:numRef>
              <c:f>Sheet1!$B$2:$B$4</c:f>
              <c:numCache>
                <c:ptCount val="3"/>
                <c:pt idx="0">
                  <c:v>36722</c:v>
                </c:pt>
                <c:pt idx="1">
                  <c:v>10586</c:v>
                </c:pt>
                <c:pt idx="2">
                  <c:v>437.5</c:v>
                </c:pt>
              </c:numCache>
            </c:numRef>
          </c:val>
        </c:ser>
        <c:firstSliceAng val="0"/>
        <c:holeSize val="58"/>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E3B2F"/>
                </a:solidFill>
                <a:latin typeface="+mn-lt"/>
              </a:defRPr>
            </a:pPr>
            <a:r>
              <a:rPr sz="1600" b="0" i="0" u="none" strike="noStrike">
                <a:solidFill>
                  <a:srgbClr val="1E3B2F"/>
                </a:solidFill>
                <a:latin typeface="+mn-lt"/>
              </a:rPr>
              <a:t>Test cases by area</a:t>
            </a:r>
          </a:p>
        </c:rich>
      </c:tx>
      <c:layout/>
      <c:overlay val="0"/>
    </c:title>
    <c:autoTitleDeleted val="0"/>
    <c:plotArea>
      <c:layout/>
      <c:barChart>
        <c:barDir val="bar"/>
        <c:grouping val="clustered"/>
        <c:varyColors val="0"/>
        <c:ser>
          <c:idx val="0"/>
          <c:order val="0"/>
          <c:tx>
            <c:strRef>
              <c:f>Sheet1!$B$1</c:f>
              <c:strCache>
                <c:ptCount val="1"/>
                <c:pt idx="0">
                  <c:v>Tests</c:v>
                </c:pt>
              </c:strCache>
            </c:strRef>
          </c:tx>
          <c:spPr>
            <a:solidFill>
              <a:srgbClr val="2B5141"/>
            </a:solidFill>
            <a:effectLst/>
          </c:spPr>
          <c:invertIfNegative val="0"/>
          <c:dLbls>
            <c:numFmt formatCode="#,##0" sourceLinked="0"/>
            <c:txPr>
              <a:bodyPr/>
              <a:lstStyle/>
              <a:p>
                <a:pPr>
                  <a:defRPr b="0" i="0" strike="noStrike" sz="1400" u="none">
                    <a:solidFill>
                      <a:srgbClr val="1C2B24"/>
                    </a:solidFill>
                    <a:latin typeface="+mn-lt"/>
                  </a:defRPr>
                </a:pPr>
              </a:p>
            </c:txPr>
            <c:showLegendKey val="0"/>
            <c:showVal val="1"/>
            <c:showCatName val="0"/>
            <c:showSerName val="0"/>
            <c:showPercent val="0"/>
            <c:showBubbleSize val="0"/>
            <c:showLeaderLines val="0"/>
          </c:dLbls>
          <c:cat>
            <c:multiLvlStrRef>
              <c:f>Sheet1!$A$2:$A$9</c:f>
              <c:multiLvlStrCache>
                <c:ptCount val="8"/>
                <c:lvl>
                  <c:pt idx="0">
                    <c:v>Raw SQL constraints</c:v>
                  </c:pt>
                  <c:pt idx="1">
                    <c:v>Input validation</c:v>
                  </c:pt>
                  <c:pt idx="2">
                    <c:v>CRUD</c:v>
                  </c:pt>
                  <c:pt idx="3">
                    <c:v>Foreign key actions</c:v>
                  </c:pt>
                  <c:pt idx="4">
                    <c:v>Search</c:v>
                  </c:pt>
                  <c:pt idx="5">
                    <c:v>Queries and report</c:v>
                  </c:pt>
                  <c:pt idx="6">
                    <c:v>Triggers</c:v>
                  </c:pt>
                  <c:pt idx="7">
                    <c:v>Pages load</c:v>
                  </c:pt>
                </c:lvl>
              </c:multiLvlStrCache>
            </c:multiLvlStrRef>
          </c:cat>
          <c:val>
            <c:numRef>
              <c:f>Sheet1!$B$2:$B$9</c:f>
              <c:numCache>
                <c:formatCode>General</c:formatCode>
                <c:ptCount val="8"/>
                <c:pt idx="0">
                  <c:v>6</c:v>
                </c:pt>
                <c:pt idx="1">
                  <c:v>7</c:v>
                </c:pt>
                <c:pt idx="2">
                  <c:v>4</c:v>
                </c:pt>
                <c:pt idx="3">
                  <c:v>3</c:v>
                </c:pt>
                <c:pt idx="4">
                  <c:v>3</c:v>
                </c:pt>
                <c:pt idx="5">
                  <c:v>3</c:v>
                </c:pt>
                <c:pt idx="6">
                  <c:v>2</c:v>
                </c:pt>
                <c:pt idx="7">
                  <c:v>2</c:v>
                </c:pt>
              </c:numCache>
            </c:numRef>
          </c:val>
        </c:ser>
        <c:dLbls>
          <c:numFmt formatCode="#,##0" sourceLinked="0"/>
          <c:txPr>
            <a:bodyPr/>
            <a:lstStyle/>
            <a:p>
              <a:pPr>
                <a:defRPr b="0" i="0" strike="noStrike" sz="1400" u="none">
                  <a:solidFill>
                    <a:srgbClr val="1C2B2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C2B24"/>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Abitha
Good morning. We are presenting Review 3 of our DBMS project, the Green Campus Carbon Footprint and Energy Audit Tracker.
The number on the right is the total carbon our database has calculated from the 15 sample readings: 47,745.5 kg of CO2 equivalent. Every one of those kilograms was worked out by a trigger, not typed in by us. Today we'll show the application that sits on top of that database and then demo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Abitha
Quick recap of where we are. In Review 1 we analysed the problem and drew the ER diagram. In Review 2 we turned it into seven MySQL tables with constraints, a trigger that calculates CO2e, sample data, queries and views.
Review 3 is the working prototype. The important point is that the schema stayed the same, so the ER diagram, the relational schema and the actual database are still consistent, which the guidelines ask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Abitha
This is the Review 3 checklist from the project instructions, and the slide where each item is covered, so you can check them off as we go. The final report has the same table on its first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Abitha
The app has three layers. The browser shows HTML pages with a bit of JavaScript for checks. Flask, a small Python web framework, receives each request, validates the input and runs the SQL. MySQL stores everything and enforces the constraints.
We chose Flask because the whole thing is small enough to explain in a viva, and the SQL stays visible. There is no ORM hiding the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Abitha
This is the overview page. Three things on it come from the subject itself.
The total at the top is drawn like a real electricity meter. The building rating uses the A to G colours from appliance energy labels; the band is based on kg CO2e per square foot so a big hostel and a small office can be compared fairly. The CSE Research Center gets an F even though Main Academic Block emits more in total, because it is smaller.
And Scope 1, 2 and 3 always have the same colours, so you can read the source of emissions at a glance. The layout also works on a phone.
[Hand over to Vishnunarayan]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Vishnunarayan
The app connects with mysql-connector-python. Opening a connection for every page is slow, so we keep a pool of five and reuse them.
The important part is the second block. We never paste user input into the SQL string. The values are sent as parameters, separately from the statement, which is what stops SQL injection.
When MySQL rejects something, we don't show the raw error. The table on the right shows how each error code is turned into a sentence the user can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Vishnunarayan
Six tables have full create, read, update and delete from the browser. carbon_logs is the exception on purpose: only the triggers write to it.
The Delete column shows the foreign key rule from Review 2. Deleting never happens in one click. First a confirmation page counts what else will go, for example deleting Hostel Block A also removes 2 meters, 3 readings, 3 carbon logs and 1 initiative. Deleting an emission factor that meters still use is refused by MySQL because that key is RESTRICT. We'll show both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Vishnunarayan
When a reading is saved, the insert trigger from Review 2 looks up the factor for that meter and writes the CO2e into carbon_logs. For example 5,000 kWh of grid electricity times 0.82 gives 4,100 kg. After saving, the app reads that row back and shows it in the confirmation message, so you can see the trigger worked.
Review 3 needed one new trigger. Once readings could be edited, the old log value would have been wrong, so trg_after_energy_reading_update recalculates it, but only when the consumption or the meter changes. If an emission factor is revised later, old logs stay as they were, which is the audit-record decision from Review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Vishnunarayan
The search page looks across buildings, meters, readings and initiatives at the same time. The text box uses LIKE on meter codes, building names, sources and titles. Each filter that is filled in adds one more condition to the WHERE clause, again as a parameter.
Under the readings it adds up consumption, cost and CO2e. Consumption is only added when all the units are the same, otherwise it says mixed units, the same point we made in Review 2 about adding kWh and litres.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Vishnunarayan
All the queries from Review 2, SELECT, WHERE, ORDER BY, aggregates, GROUP BY, HAVING, joins, subqueries and the two views, run live on one page with their results. The page reads them straight from our SQL file, so what we submit and what we show are the same.
At the bottom there's a box where we can type our own SELECT. It refuses anything that could change data, and it also runs inside a read-only transaction, so even if something slipped through, MySQL itself would refuse to write. If you'd like to ask a question of the data during the demo, we can answer it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Vishnunarayan
In our Review 1 slides we showed a stored procedure for an audit report. For Review 3 we actually wrote it. sp_GetCampusAuditReport takes a start and end date and groups the readings by building and energy source, joining five tables.
The report page calls it, adds each row's share and the split by scope, and can be printed or downloaded as a CSV. For the full sample period it gives 47,745.5 kg, with grid electricity, Scope 2, at about 77 percent, which matches Review 2.
[Hand over to Daksh]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Daksh
Every input is checked three times. The browser catches obvious mistakes before anything is sent. The server checks again, because browser checks can be switched off, and adds checks that need the database, like duplicates.
Three rules exist only in the app because a CHECK constraint can't look at other rows or today's date: no readings in the future, one reading per meter per day, and no new readings on an inactive meter.
The bottom layer is MySQL itself with the constraints from Review 2. The database always has the final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Daksh
We wrote the test cases as automated tests with pytest. There are 30, and all of them pass. Before each test the test database is rebuilt from our SQL files, so tests can't affect each other or the real data.
The biggest groups are input validation and the six raw SQL tests, which repeat the negative tests from Review 2 section 4.1 directly against MySQL, without the app, to show the constraints still hold on their own. The full list with inputs and expected results is in section 9 of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Daksh
The final database has the same seven tables and six foreign keys, two triggers, two views and one stored procedure, with 58 sample rows. The two objects in red are new for Review 3. No table changed, so the ER diagram, the schema and the actual database still match.
The whole database can be rebuilt from two SQL files, which is also how we reset it after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Daksh (driving the laptop), all three explain their own parts
1. Abitha: overview page.
2-4. Vishnunarayan: log a reading, show the confirmation with the CO2e from the trigger. Try -50, tomorrow's date, and a second reading for the same meter on the same day. Then edit the reading and open the carbon log.
5. Vishnunarayan: delete page for Hostel Block A (show the cascade list, click Keep it), then try deleting Grid Electricity to show RESTRICT.
6-8. Daksh: search, SQL queries page and console, audit report and CSV.
9. Daksh: run the tests in the terminal.
After the demo: python init_db.py to reset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Daksh
To sum up: the database from Review 2 now has a working application on top of it, with every Review 3 item covered and 30 tests passing. These are the things we'd add next, and the code is on GitHub at the link shown.
Thank you. We're happy to take questions, and we can run any query you'd like in the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6583680" cy="21945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abitha7-glitch/green_campus_tracker" TargetMode="Externa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1-1.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github.com/abitha7-glitch/green_campus_tracker" TargetMode="External"/><Relationship Id="rId2" Type="http://schemas.openxmlformats.org/officeDocument/2006/relationships/hyperlink" Target="https://github.com/abitha7-glitch/green_campus_tracker" TargetMode="External"/><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685800"/>
            <a:ext cx="6400800" cy="365760"/>
          </a:xfrm>
          <a:prstGeom prst="rect">
            <a:avLst/>
          </a:prstGeom>
          <a:noFill/>
          <a:ln/>
        </p:spPr>
        <p:txBody>
          <a:bodyPr wrap="square" lIns="0" tIns="0" rIns="0" bIns="0" rtlCol="0" anchor="t"/>
          <a:lstStyle/>
          <a:p>
            <a:pPr indent="0" marL="0">
              <a:buNone/>
            </a:pPr>
            <a:r>
              <a:rPr lang="en-US" sz="1600" b="1" dirty="0">
                <a:solidFill>
                  <a:srgbClr val="F2C230"/>
                </a:solidFill>
              </a:rPr>
              <a:t>DBMS (BACSE202), Review 3</a:t>
            </a:r>
            <a:endParaRPr lang="en-US" sz="1600" dirty="0"/>
          </a:p>
        </p:txBody>
      </p:sp>
      <p:sp>
        <p:nvSpPr>
          <p:cNvPr id="3" name="Text 0"/>
          <p:cNvSpPr/>
          <p:nvPr>
            <p:ph idx="100" type="title" hasCustomPrompt="1"/>
          </p:nvPr>
        </p:nvSpPr>
        <p:spPr>
          <a:xfrm>
            <a:off x="640080" y="1371600"/>
            <a:ext cx="6583680" cy="2194560"/>
          </a:xfrm>
          <a:prstGeom prst="rect">
            <a:avLst/>
          </a:prstGeom>
          <a:noFill/>
          <a:ln/>
        </p:spPr>
        <p:txBody>
          <a:bodyPr wrap="square" lIns="0" tIns="0" rIns="0" bIns="0" rtlCol="0" anchor="t"/>
          <a:lstStyle/>
          <a:p>
            <a:pPr algn="l" indent="0" marL="0">
              <a:buNone/>
            </a:pPr>
            <a:r>
              <a:rPr lang="en-US" sz="4000" b="1" dirty="0">
                <a:solidFill>
                  <a:schemeClr val="bg1"/>
                </a:solidFill>
              </a:rPr>
              <a:t>Green Campus Carbon Footprint &amp; Energy Audit Tracker</a:t>
            </a:r>
            <a:endParaRPr lang="en-US" sz="4000" dirty="0"/>
          </a:p>
        </p:txBody>
      </p:sp>
      <p:sp>
        <p:nvSpPr>
          <p:cNvPr id="4" name="Text 2"/>
          <p:cNvSpPr txBox="1"/>
          <p:nvPr/>
        </p:nvSpPr>
        <p:spPr>
          <a:xfrm>
            <a:off x="640080" y="3657600"/>
            <a:ext cx="6583680" cy="457200"/>
          </a:xfrm>
          <a:prstGeom prst="rect">
            <a:avLst/>
          </a:prstGeom>
          <a:noFill/>
          <a:ln/>
        </p:spPr>
        <p:txBody>
          <a:bodyPr wrap="square" lIns="0" tIns="0" rIns="0" bIns="0" rtlCol="0" anchor="t"/>
          <a:lstStyle/>
          <a:p>
            <a:pPr indent="0" marL="0">
              <a:buNone/>
            </a:pPr>
            <a:r>
              <a:rPr lang="en-US" sz="2000" dirty="0">
                <a:solidFill>
                  <a:srgbClr val="C9D6CE"/>
                </a:solidFill>
              </a:rPr>
              <a:t>From an ER diagram to a working app on MySQL</a:t>
            </a:r>
            <a:endParaRPr lang="en-US" sz="2000" dirty="0"/>
          </a:p>
        </p:txBody>
      </p:sp>
      <p:sp>
        <p:nvSpPr>
          <p:cNvPr id="5" name="Text 3"/>
          <p:cNvSpPr txBox="1"/>
          <p:nvPr/>
        </p:nvSpPr>
        <p:spPr>
          <a:xfrm>
            <a:off x="640080" y="4526280"/>
            <a:ext cx="5943600" cy="1097280"/>
          </a:xfrm>
          <a:prstGeom prst="rect">
            <a:avLst/>
          </a:prstGeom>
          <a:noFill/>
          <a:ln/>
        </p:spPr>
        <p:txBody>
          <a:bodyPr wrap="square" lIns="0" tIns="0" rIns="0" bIns="0" rtlCol="0" anchor="t"/>
          <a:lstStyle/>
          <a:p>
            <a:pPr indent="0" marL="0">
              <a:spcAft>
                <a:spcPts val="400"/>
              </a:spcAft>
              <a:buNone/>
            </a:pPr>
            <a:r>
              <a:rPr lang="en-US" sz="1600" b="1" dirty="0">
                <a:solidFill>
                  <a:srgbClr val="FFFFFF"/>
                </a:solidFill>
              </a:rPr>
              <a:t>Abitha Laxmi P</a:t>
            </a:r>
            <a:pPr indent="0" marL="0">
              <a:spcAft>
                <a:spcPts val="400"/>
              </a:spcAft>
              <a:buNone/>
            </a:pPr>
            <a:r>
              <a:rPr lang="en-US" sz="1600" dirty="0">
                <a:solidFill>
                  <a:srgbClr val="FFFFFF"/>
                </a:solidFill>
              </a:rPr>
              <a:t>   25BCE0535</a:t>
            </a:r>
            <a:endParaRPr lang="en-US" sz="1600" dirty="0"/>
          </a:p>
          <a:p>
            <a:pPr indent="0" marL="0">
              <a:spcAft>
                <a:spcPts val="400"/>
              </a:spcAft>
              <a:buNone/>
            </a:pPr>
            <a:r>
              <a:rPr lang="en-US" sz="1600" b="1" dirty="0">
                <a:solidFill>
                  <a:srgbClr val="FFFFFF"/>
                </a:solidFill>
              </a:rPr>
              <a:t>Vishnunarayan Praveen</a:t>
            </a:r>
            <a:pPr indent="0" marL="0">
              <a:spcAft>
                <a:spcPts val="400"/>
              </a:spcAft>
              <a:buNone/>
            </a:pPr>
            <a:r>
              <a:rPr lang="en-US" sz="1600" dirty="0">
                <a:solidFill>
                  <a:srgbClr val="FFFFFF"/>
                </a:solidFill>
              </a:rPr>
              <a:t>   25BCE0761</a:t>
            </a:r>
            <a:endParaRPr lang="en-US" sz="1600" dirty="0"/>
          </a:p>
          <a:p>
            <a:pPr indent="0" marL="0">
              <a:spcAft>
                <a:spcPts val="400"/>
              </a:spcAft>
              <a:buNone/>
            </a:pPr>
            <a:r>
              <a:rPr lang="en-US" sz="1600" b="1" dirty="0">
                <a:solidFill>
                  <a:srgbClr val="FFFFFF"/>
                </a:solidFill>
              </a:rPr>
              <a:t>Daksh Bharath Singoor</a:t>
            </a:r>
            <a:pPr indent="0" marL="0">
              <a:spcAft>
                <a:spcPts val="400"/>
              </a:spcAft>
              <a:buNone/>
            </a:pPr>
            <a:r>
              <a:rPr lang="en-US" sz="1600" dirty="0">
                <a:solidFill>
                  <a:srgbClr val="FFFFFF"/>
                </a:solidFill>
              </a:rPr>
              <a:t>   25BDS0319</a:t>
            </a:r>
            <a:endParaRPr lang="en-US" sz="1600" dirty="0"/>
          </a:p>
        </p:txBody>
      </p:sp>
      <p:sp>
        <p:nvSpPr>
          <p:cNvPr id="6" name="Text 4"/>
          <p:cNvSpPr txBox="1"/>
          <p:nvPr/>
        </p:nvSpPr>
        <p:spPr>
          <a:xfrm>
            <a:off x="640080" y="5989320"/>
            <a:ext cx="5943600" cy="320040"/>
          </a:xfrm>
          <a:prstGeom prst="rect">
            <a:avLst/>
          </a:prstGeom>
          <a:noFill/>
          <a:ln/>
        </p:spPr>
        <p:txBody>
          <a:bodyPr wrap="square" lIns="0" tIns="0" rIns="0" bIns="0" rtlCol="0" anchor="t"/>
          <a:lstStyle/>
          <a:p>
            <a:pPr indent="0" marL="0">
              <a:buNone/>
            </a:pPr>
            <a:r>
              <a:rPr lang="en-US" sz="1300" dirty="0">
                <a:solidFill>
                  <a:srgbClr val="9FB4A8"/>
                </a:solidFill>
              </a:rPr>
              <a:t>Department of Computer Science and Engineering</a:t>
            </a:r>
            <a:endParaRPr lang="en-US" sz="1300" dirty="0"/>
          </a:p>
        </p:txBody>
      </p:sp>
      <p:sp>
        <p:nvSpPr>
          <p:cNvPr id="7" name="counter 0"/>
          <p:cNvSpPr/>
          <p:nvPr/>
        </p:nvSpPr>
        <p:spPr>
          <a:xfrm>
            <a:off x="7452360" y="2331720"/>
            <a:ext cx="512064" cy="786384"/>
          </a:xfrm>
          <a:prstGeom prst="roundRect">
            <a:avLst>
              <a:gd name="adj" fmla="val 10714"/>
            </a:avLst>
          </a:prstGeom>
          <a:solidFill>
            <a:srgbClr val="0E1C16"/>
          </a:solidFill>
          <a:ln w="9525">
            <a:solidFill>
              <a:srgbClr val="000000"/>
            </a:solidFill>
            <a:prstDash val="solid"/>
          </a:ln>
        </p:spPr>
      </p:sp>
      <p:sp>
        <p:nvSpPr>
          <p:cNvPr id="8" name="Text 6"/>
          <p:cNvSpPr txBox="1"/>
          <p:nvPr/>
        </p:nvSpPr>
        <p:spPr>
          <a:xfrm>
            <a:off x="7452360" y="2331720"/>
            <a:ext cx="512064" cy="786384"/>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0</a:t>
            </a:r>
            <a:endParaRPr lang="en-US" sz="3600" dirty="0"/>
          </a:p>
        </p:txBody>
      </p:sp>
      <p:sp>
        <p:nvSpPr>
          <p:cNvPr id="9" name="counter 1"/>
          <p:cNvSpPr/>
          <p:nvPr/>
        </p:nvSpPr>
        <p:spPr>
          <a:xfrm>
            <a:off x="8019288" y="2331720"/>
            <a:ext cx="512064" cy="786384"/>
          </a:xfrm>
          <a:prstGeom prst="roundRect">
            <a:avLst>
              <a:gd name="adj" fmla="val 10714"/>
            </a:avLst>
          </a:prstGeom>
          <a:solidFill>
            <a:srgbClr val="0E1C16"/>
          </a:solidFill>
          <a:ln w="9525">
            <a:solidFill>
              <a:srgbClr val="000000"/>
            </a:solidFill>
            <a:prstDash val="solid"/>
          </a:ln>
        </p:spPr>
      </p:sp>
      <p:sp>
        <p:nvSpPr>
          <p:cNvPr id="10" name="Text 8"/>
          <p:cNvSpPr txBox="1"/>
          <p:nvPr/>
        </p:nvSpPr>
        <p:spPr>
          <a:xfrm>
            <a:off x="8019288" y="2331720"/>
            <a:ext cx="512064" cy="786384"/>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4</a:t>
            </a:r>
            <a:endParaRPr lang="en-US" sz="3600" dirty="0"/>
          </a:p>
        </p:txBody>
      </p:sp>
      <p:sp>
        <p:nvSpPr>
          <p:cNvPr id="11" name="counter 2"/>
          <p:cNvSpPr/>
          <p:nvPr/>
        </p:nvSpPr>
        <p:spPr>
          <a:xfrm>
            <a:off x="8586216" y="2331720"/>
            <a:ext cx="512064" cy="786384"/>
          </a:xfrm>
          <a:prstGeom prst="roundRect">
            <a:avLst>
              <a:gd name="adj" fmla="val 10714"/>
            </a:avLst>
          </a:prstGeom>
          <a:solidFill>
            <a:srgbClr val="0E1C16"/>
          </a:solidFill>
          <a:ln w="9525">
            <a:solidFill>
              <a:srgbClr val="000000"/>
            </a:solidFill>
            <a:prstDash val="solid"/>
          </a:ln>
        </p:spPr>
      </p:sp>
      <p:sp>
        <p:nvSpPr>
          <p:cNvPr id="12" name="Text 10"/>
          <p:cNvSpPr txBox="1"/>
          <p:nvPr/>
        </p:nvSpPr>
        <p:spPr>
          <a:xfrm>
            <a:off x="8586216" y="2331720"/>
            <a:ext cx="512064" cy="786384"/>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7</a:t>
            </a:r>
            <a:endParaRPr lang="en-US" sz="3600" dirty="0"/>
          </a:p>
        </p:txBody>
      </p:sp>
      <p:sp>
        <p:nvSpPr>
          <p:cNvPr id="13" name="counter 3"/>
          <p:cNvSpPr/>
          <p:nvPr/>
        </p:nvSpPr>
        <p:spPr>
          <a:xfrm>
            <a:off x="9153144" y="2331720"/>
            <a:ext cx="512064" cy="786384"/>
          </a:xfrm>
          <a:prstGeom prst="roundRect">
            <a:avLst>
              <a:gd name="adj" fmla="val 10714"/>
            </a:avLst>
          </a:prstGeom>
          <a:solidFill>
            <a:srgbClr val="0E1C16"/>
          </a:solidFill>
          <a:ln w="9525">
            <a:solidFill>
              <a:srgbClr val="000000"/>
            </a:solidFill>
            <a:prstDash val="solid"/>
          </a:ln>
        </p:spPr>
      </p:sp>
      <p:sp>
        <p:nvSpPr>
          <p:cNvPr id="14" name="Text 12"/>
          <p:cNvSpPr txBox="1"/>
          <p:nvPr/>
        </p:nvSpPr>
        <p:spPr>
          <a:xfrm>
            <a:off x="9153144" y="2331720"/>
            <a:ext cx="512064" cy="786384"/>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7</a:t>
            </a:r>
            <a:endParaRPr lang="en-US" sz="3600" dirty="0"/>
          </a:p>
        </p:txBody>
      </p:sp>
      <p:sp>
        <p:nvSpPr>
          <p:cNvPr id="15" name="counter 4"/>
          <p:cNvSpPr/>
          <p:nvPr/>
        </p:nvSpPr>
        <p:spPr>
          <a:xfrm>
            <a:off x="9720072" y="2331720"/>
            <a:ext cx="512064" cy="786384"/>
          </a:xfrm>
          <a:prstGeom prst="roundRect">
            <a:avLst>
              <a:gd name="adj" fmla="val 10714"/>
            </a:avLst>
          </a:prstGeom>
          <a:solidFill>
            <a:srgbClr val="0E1C16"/>
          </a:solidFill>
          <a:ln w="9525">
            <a:solidFill>
              <a:srgbClr val="000000"/>
            </a:solidFill>
            <a:prstDash val="solid"/>
          </a:ln>
        </p:spPr>
      </p:sp>
      <p:sp>
        <p:nvSpPr>
          <p:cNvPr id="16" name="Text 14"/>
          <p:cNvSpPr txBox="1"/>
          <p:nvPr/>
        </p:nvSpPr>
        <p:spPr>
          <a:xfrm>
            <a:off x="9720072" y="2331720"/>
            <a:ext cx="512064" cy="786384"/>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4</a:t>
            </a:r>
            <a:endParaRPr lang="en-US" sz="3600" dirty="0"/>
          </a:p>
        </p:txBody>
      </p:sp>
      <p:sp>
        <p:nvSpPr>
          <p:cNvPr id="17" name="counter 5"/>
          <p:cNvSpPr/>
          <p:nvPr/>
        </p:nvSpPr>
        <p:spPr>
          <a:xfrm>
            <a:off x="10287000" y="2331720"/>
            <a:ext cx="512064" cy="786384"/>
          </a:xfrm>
          <a:prstGeom prst="roundRect">
            <a:avLst>
              <a:gd name="adj" fmla="val 10714"/>
            </a:avLst>
          </a:prstGeom>
          <a:solidFill>
            <a:srgbClr val="0E1C16"/>
          </a:solidFill>
          <a:ln w="9525">
            <a:solidFill>
              <a:srgbClr val="000000"/>
            </a:solidFill>
            <a:prstDash val="solid"/>
          </a:ln>
        </p:spPr>
      </p:sp>
      <p:sp>
        <p:nvSpPr>
          <p:cNvPr id="18" name="Text 16"/>
          <p:cNvSpPr txBox="1"/>
          <p:nvPr/>
        </p:nvSpPr>
        <p:spPr>
          <a:xfrm>
            <a:off x="10287000" y="2331720"/>
            <a:ext cx="512064" cy="786384"/>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5</a:t>
            </a:r>
            <a:endParaRPr lang="en-US" sz="3600" dirty="0"/>
          </a:p>
        </p:txBody>
      </p:sp>
      <p:sp>
        <p:nvSpPr>
          <p:cNvPr id="19" name="counter tenth"/>
          <p:cNvSpPr/>
          <p:nvPr/>
        </p:nvSpPr>
        <p:spPr>
          <a:xfrm>
            <a:off x="10908792" y="2331720"/>
            <a:ext cx="512064" cy="786384"/>
          </a:xfrm>
          <a:prstGeom prst="roundRect">
            <a:avLst>
              <a:gd name="adj" fmla="val 10714"/>
            </a:avLst>
          </a:prstGeom>
          <a:solidFill>
            <a:srgbClr val="C8371E"/>
          </a:solidFill>
          <a:ln w="9525">
            <a:solidFill>
              <a:srgbClr val="000000"/>
            </a:solidFill>
            <a:prstDash val="solid"/>
          </a:ln>
        </p:spPr>
      </p:sp>
      <p:sp>
        <p:nvSpPr>
          <p:cNvPr id="20" name="Text 18"/>
          <p:cNvSpPr txBox="1"/>
          <p:nvPr/>
        </p:nvSpPr>
        <p:spPr>
          <a:xfrm>
            <a:off x="10908792" y="2331720"/>
            <a:ext cx="512064" cy="786384"/>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5</a:t>
            </a:r>
            <a:endParaRPr lang="en-US" sz="3600" dirty="0"/>
          </a:p>
        </p:txBody>
      </p:sp>
      <p:sp>
        <p:nvSpPr>
          <p:cNvPr id="21" name="Text 19"/>
          <p:cNvSpPr txBox="1"/>
          <p:nvPr/>
        </p:nvSpPr>
        <p:spPr>
          <a:xfrm>
            <a:off x="7452360" y="3291840"/>
            <a:ext cx="4114800" cy="640080"/>
          </a:xfrm>
          <a:prstGeom prst="rect">
            <a:avLst/>
          </a:prstGeom>
          <a:noFill/>
          <a:ln/>
        </p:spPr>
        <p:txBody>
          <a:bodyPr wrap="square" lIns="0" tIns="0" rIns="0" bIns="0" rtlCol="0" anchor="t"/>
          <a:lstStyle/>
          <a:p>
            <a:pPr indent="0" marL="0">
              <a:buNone/>
            </a:pPr>
            <a:r>
              <a:rPr lang="en-US" sz="1400" dirty="0">
                <a:solidFill>
                  <a:srgbClr val="C9D6CE"/>
                </a:solidFill>
              </a:rPr>
              <a:t>kg CO₂e logged across our six sample buildings, 1 to 3 September 2026</a:t>
            </a:r>
            <a:endParaRPr lang="en-US" sz="1400" dirty="0"/>
          </a:p>
        </p:txBody>
      </p:sp>
      <p:sp>
        <p:nvSpPr>
          <p:cNvPr id="22" name="Text 20"/>
          <p:cNvSpPr txBox="1"/>
          <p:nvPr/>
        </p:nvSpPr>
        <p:spPr>
          <a:xfrm>
            <a:off x="7452360" y="5989320"/>
            <a:ext cx="4389120" cy="320040"/>
          </a:xfrm>
          <a:prstGeom prst="rect">
            <a:avLst/>
          </a:prstGeom>
          <a:noFill/>
          <a:ln/>
        </p:spPr>
        <p:txBody>
          <a:bodyPr wrap="square" lIns="0" tIns="0" rIns="0" bIns="0" rtlCol="0" anchor="t"/>
          <a:lstStyle/>
          <a:p>
            <a:pPr indent="0" marL="0">
              <a:buNone/>
            </a:pPr>
            <a:r>
              <a:rPr lang="en-US" sz="1300" u="sng" dirty="0">
                <a:solidFill>
                  <a:srgbClr val="F2C230"/>
                </a:solidFill>
                <a:hlinkClick r:id="rId1" invalidUrl="" action="" tgtFrame="" tooltip="" history="1" highlightClick="0" endSnd="0">
                  <a:extLst>
                    <a:ext uri="{A12FA001-AC4F-418D-AE19-62706E023703}">
                      <ahyp:hlinkClr xmlns:ahyp="http://schemas.microsoft.com/office/drawing/2018/hyperlinkcolor" val="tx"/>
                    </a:ext>
                  </a:extLst>
                </a:hlinkClick>
              </a:rPr>
              <a:t>github.com/abitha7-glitch/green_campus_tracker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lIns="0" tIns="0" rIns="0" bIns="0" rtlCol="0" anchor="ctr"/>
          <a:lstStyle/>
          <a:p>
            <a:pPr algn="l" indent="0" marL="0">
              <a:buNone/>
            </a:pPr>
            <a:r>
              <a:rPr lang="en-US" sz="3200" b="1" dirty="0">
                <a:solidFill>
                  <a:schemeClr val="tx2"/>
                </a:solidFill>
              </a:rPr>
              <a:t>Three reviews, one database</a:t>
            </a:r>
            <a:endParaRPr lang="en-US" sz="3200" dirty="0"/>
          </a:p>
        </p:txBody>
      </p:sp>
      <p:sp>
        <p:nvSpPr>
          <p:cNvPr id="3" name="meter digit 0"/>
          <p:cNvSpPr/>
          <p:nvPr/>
        </p:nvSpPr>
        <p:spPr>
          <a:xfrm>
            <a:off x="11091672" y="502920"/>
            <a:ext cx="274320" cy="402336"/>
          </a:xfrm>
          <a:prstGeom prst="roundRect">
            <a:avLst>
              <a:gd name="adj" fmla="val 13333"/>
            </a:avLst>
          </a:prstGeom>
          <a:solidFill>
            <a:srgbClr val="14261E"/>
          </a:solidFill>
          <a:ln w="6350">
            <a:solidFill>
              <a:srgbClr val="000000"/>
            </a:solidFill>
            <a:prstDash val="solid"/>
          </a:ln>
        </p:spPr>
      </p:sp>
      <p:sp>
        <p:nvSpPr>
          <p:cNvPr id="4" name="Text 2"/>
          <p:cNvSpPr txBox="1"/>
          <p:nvPr/>
        </p:nvSpPr>
        <p:spPr>
          <a:xfrm>
            <a:off x="11091672" y="502920"/>
            <a:ext cx="27432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a:t>
            </a:r>
            <a:endParaRPr lang="en-US" sz="1600" dirty="0"/>
          </a:p>
        </p:txBody>
      </p:sp>
      <p:sp>
        <p:nvSpPr>
          <p:cNvPr id="5" name="meter digit 1"/>
          <p:cNvSpPr/>
          <p:nvPr/>
        </p:nvSpPr>
        <p:spPr>
          <a:xfrm>
            <a:off x="11393424" y="502920"/>
            <a:ext cx="274320" cy="402336"/>
          </a:xfrm>
          <a:prstGeom prst="roundRect">
            <a:avLst>
              <a:gd name="adj" fmla="val 13333"/>
            </a:avLst>
          </a:prstGeom>
          <a:solidFill>
            <a:srgbClr val="C8371E"/>
          </a:solidFill>
          <a:ln w="6350">
            <a:solidFill>
              <a:srgbClr val="000000"/>
            </a:solidFill>
            <a:prstDash val="solid"/>
          </a:ln>
        </p:spPr>
      </p:sp>
      <p:sp>
        <p:nvSpPr>
          <p:cNvPr id="6" name="Text 4"/>
          <p:cNvSpPr txBox="1"/>
          <p:nvPr/>
        </p:nvSpPr>
        <p:spPr>
          <a:xfrm>
            <a:off x="11393424" y="502920"/>
            <a:ext cx="27432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7" name="timeline"/>
          <p:cNvSpPr/>
          <p:nvPr/>
        </p:nvSpPr>
        <p:spPr>
          <a:xfrm>
            <a:off x="1280160" y="2331720"/>
            <a:ext cx="8595360" cy="0"/>
          </a:xfrm>
          <a:prstGeom prst="line">
            <a:avLst/>
          </a:prstGeom>
          <a:noFill/>
          <a:ln w="38100">
            <a:solidFill>
              <a:srgbClr val="D3DCD5"/>
            </a:solidFill>
            <a:prstDash val="solid"/>
          </a:ln>
        </p:spPr>
      </p:sp>
      <p:sp>
        <p:nvSpPr>
          <p:cNvPr id="8" name="step 1"/>
          <p:cNvSpPr/>
          <p:nvPr/>
        </p:nvSpPr>
        <p:spPr>
          <a:xfrm>
            <a:off x="960120" y="2011680"/>
            <a:ext cx="640080" cy="640080"/>
          </a:xfrm>
          <a:prstGeom prst="ellipse">
            <a:avLst/>
          </a:prstGeom>
          <a:solidFill>
            <a:srgbClr val="1E3B2F"/>
          </a:solidFill>
          <a:ln w="38100">
            <a:solidFill>
              <a:srgbClr val="FFFFFF"/>
            </a:solidFill>
            <a:prstDash val="solid"/>
          </a:ln>
        </p:spPr>
      </p:sp>
      <p:sp>
        <p:nvSpPr>
          <p:cNvPr id="9" name="Text 7"/>
          <p:cNvSpPr txBox="1"/>
          <p:nvPr/>
        </p:nvSpPr>
        <p:spPr>
          <a:xfrm>
            <a:off x="960120" y="20116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rPr>
              <a:t>1</a:t>
            </a:r>
            <a:endParaRPr lang="en-US" sz="2200" dirty="0"/>
          </a:p>
        </p:txBody>
      </p:sp>
      <p:sp>
        <p:nvSpPr>
          <p:cNvPr id="10" name="Text 8"/>
          <p:cNvSpPr txBox="1"/>
          <p:nvPr/>
        </p:nvSpPr>
        <p:spPr>
          <a:xfrm>
            <a:off x="960120" y="2880360"/>
            <a:ext cx="3200400" cy="731520"/>
          </a:xfrm>
          <a:prstGeom prst="rect">
            <a:avLst/>
          </a:prstGeom>
          <a:noFill/>
          <a:ln/>
        </p:spPr>
        <p:txBody>
          <a:bodyPr wrap="square" lIns="0" tIns="0" rIns="0" bIns="0" rtlCol="0" anchor="t"/>
          <a:lstStyle/>
          <a:p>
            <a:pPr indent="0" marL="0">
              <a:buNone/>
            </a:pPr>
            <a:r>
              <a:rPr lang="en-US" sz="2200" b="1" dirty="0">
                <a:solidFill>
                  <a:srgbClr val="1E3B2F"/>
                </a:solidFill>
              </a:rPr>
              <a:t>Review 1</a:t>
            </a:r>
            <a:endParaRPr lang="en-US" sz="1600" dirty="0"/>
          </a:p>
          <a:p>
            <a:pPr indent="0" marL="0">
              <a:buNone/>
            </a:pPr>
            <a:r>
              <a:rPr lang="en-US" sz="1400" dirty="0">
                <a:solidFill>
                  <a:srgbClr val="5E6F66"/>
                </a:solidFill>
              </a:rPr>
              <a:t>5 Oct 2026</a:t>
            </a:r>
            <a:endParaRPr lang="en-US" sz="1600" dirty="0"/>
          </a:p>
        </p:txBody>
      </p:sp>
      <p:sp>
        <p:nvSpPr>
          <p:cNvPr id="11" name="Text 9"/>
          <p:cNvSpPr txBox="1"/>
          <p:nvPr/>
        </p:nvSpPr>
        <p:spPr>
          <a:xfrm>
            <a:off x="960120" y="3657600"/>
            <a:ext cx="3108960" cy="1280160"/>
          </a:xfrm>
          <a:prstGeom prst="rect">
            <a:avLst/>
          </a:prstGeom>
          <a:noFill/>
          <a:ln/>
        </p:spPr>
        <p:txBody>
          <a:bodyPr wrap="square" lIns="0" tIns="0" rIns="0" bIns="0" rtlCol="0" anchor="t"/>
          <a:lstStyle/>
          <a:p>
            <a:pPr indent="0" marL="0">
              <a:buNone/>
            </a:pPr>
            <a:r>
              <a:rPr lang="en-US" sz="1600" dirty="0">
                <a:solidFill>
                  <a:schemeClr val="tx1"/>
                </a:solidFill>
              </a:rPr>
              <a:t>Problem, objectives, 7 entities, 6 relationships, ER diagram</a:t>
            </a:r>
            <a:endParaRPr lang="en-US" sz="1600" dirty="0"/>
          </a:p>
        </p:txBody>
      </p:sp>
      <p:sp>
        <p:nvSpPr>
          <p:cNvPr id="12" name="step 2"/>
          <p:cNvSpPr/>
          <p:nvPr/>
        </p:nvSpPr>
        <p:spPr>
          <a:xfrm>
            <a:off x="4709160" y="2011680"/>
            <a:ext cx="640080" cy="640080"/>
          </a:xfrm>
          <a:prstGeom prst="ellipse">
            <a:avLst/>
          </a:prstGeom>
          <a:solidFill>
            <a:srgbClr val="1E3B2F"/>
          </a:solidFill>
          <a:ln w="38100">
            <a:solidFill>
              <a:srgbClr val="FFFFFF"/>
            </a:solidFill>
            <a:prstDash val="solid"/>
          </a:ln>
        </p:spPr>
      </p:sp>
      <p:sp>
        <p:nvSpPr>
          <p:cNvPr id="13" name="Text 11"/>
          <p:cNvSpPr txBox="1"/>
          <p:nvPr/>
        </p:nvSpPr>
        <p:spPr>
          <a:xfrm>
            <a:off x="4709160" y="20116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14" name="Text 12"/>
          <p:cNvSpPr txBox="1"/>
          <p:nvPr/>
        </p:nvSpPr>
        <p:spPr>
          <a:xfrm>
            <a:off x="4709160" y="2880360"/>
            <a:ext cx="3200400" cy="731520"/>
          </a:xfrm>
          <a:prstGeom prst="rect">
            <a:avLst/>
          </a:prstGeom>
          <a:noFill/>
          <a:ln/>
        </p:spPr>
        <p:txBody>
          <a:bodyPr wrap="square" lIns="0" tIns="0" rIns="0" bIns="0" rtlCol="0" anchor="t"/>
          <a:lstStyle/>
          <a:p>
            <a:pPr indent="0" marL="0">
              <a:buNone/>
            </a:pPr>
            <a:r>
              <a:rPr lang="en-US" sz="2200" b="1" dirty="0">
                <a:solidFill>
                  <a:srgbClr val="1E3B2F"/>
                </a:solidFill>
              </a:rPr>
              <a:t>Review 2</a:t>
            </a:r>
            <a:endParaRPr lang="en-US" sz="1600" dirty="0"/>
          </a:p>
          <a:p>
            <a:pPr indent="0" marL="0">
              <a:buNone/>
            </a:pPr>
            <a:r>
              <a:rPr lang="en-US" sz="1400" dirty="0">
                <a:solidFill>
                  <a:srgbClr val="5E6F66"/>
                </a:solidFill>
              </a:rPr>
              <a:t>12 Oct 2026</a:t>
            </a:r>
            <a:endParaRPr lang="en-US" sz="1600" dirty="0"/>
          </a:p>
        </p:txBody>
      </p:sp>
      <p:sp>
        <p:nvSpPr>
          <p:cNvPr id="15" name="Text 13"/>
          <p:cNvSpPr txBox="1"/>
          <p:nvPr/>
        </p:nvSpPr>
        <p:spPr>
          <a:xfrm>
            <a:off x="4709160" y="3657600"/>
            <a:ext cx="3108960" cy="1280160"/>
          </a:xfrm>
          <a:prstGeom prst="rect">
            <a:avLst/>
          </a:prstGeom>
          <a:noFill/>
          <a:ln/>
        </p:spPr>
        <p:txBody>
          <a:bodyPr wrap="square" lIns="0" tIns="0" rIns="0" bIns="0" rtlCol="0" anchor="t"/>
          <a:lstStyle/>
          <a:p>
            <a:pPr indent="0" marL="0">
              <a:buNone/>
            </a:pPr>
            <a:r>
              <a:rPr lang="en-US" sz="1600" dirty="0">
                <a:solidFill>
                  <a:schemeClr val="tx1"/>
                </a:solidFill>
              </a:rPr>
              <a:t>Tables, keys, constraints, CO₂e trigger, sample data, queries and two views</a:t>
            </a:r>
            <a:endParaRPr lang="en-US" sz="1600" dirty="0"/>
          </a:p>
        </p:txBody>
      </p:sp>
      <p:sp>
        <p:nvSpPr>
          <p:cNvPr id="16" name="step 3"/>
          <p:cNvSpPr/>
          <p:nvPr/>
        </p:nvSpPr>
        <p:spPr>
          <a:xfrm>
            <a:off x="8458200" y="2011680"/>
            <a:ext cx="640080" cy="640080"/>
          </a:xfrm>
          <a:prstGeom prst="ellipse">
            <a:avLst/>
          </a:prstGeom>
          <a:solidFill>
            <a:srgbClr val="F2C230"/>
          </a:solidFill>
          <a:ln w="38100">
            <a:solidFill>
              <a:srgbClr val="FFFFFF"/>
            </a:solidFill>
            <a:prstDash val="solid"/>
          </a:ln>
        </p:spPr>
      </p:sp>
      <p:sp>
        <p:nvSpPr>
          <p:cNvPr id="17" name="Text 15"/>
          <p:cNvSpPr txBox="1"/>
          <p:nvPr/>
        </p:nvSpPr>
        <p:spPr>
          <a:xfrm>
            <a:off x="8458200" y="2011680"/>
            <a:ext cx="640080" cy="640080"/>
          </a:xfrm>
          <a:prstGeom prst="rect">
            <a:avLst/>
          </a:prstGeom>
          <a:noFill/>
          <a:ln/>
        </p:spPr>
        <p:txBody>
          <a:bodyPr wrap="square" lIns="0" tIns="0" rIns="0" bIns="0" rtlCol="0" anchor="ctr"/>
          <a:lstStyle/>
          <a:p>
            <a:pPr algn="ctr" indent="0" marL="0">
              <a:buNone/>
            </a:pPr>
            <a:r>
              <a:rPr lang="en-US" sz="2200" b="1" dirty="0">
                <a:solidFill>
                  <a:srgbClr val="1C2B24"/>
                </a:solidFill>
              </a:rPr>
              <a:t>3</a:t>
            </a:r>
            <a:endParaRPr lang="en-US" sz="2200" dirty="0"/>
          </a:p>
        </p:txBody>
      </p:sp>
      <p:sp>
        <p:nvSpPr>
          <p:cNvPr id="18" name="Text 16"/>
          <p:cNvSpPr txBox="1"/>
          <p:nvPr/>
        </p:nvSpPr>
        <p:spPr>
          <a:xfrm>
            <a:off x="8458200" y="2880360"/>
            <a:ext cx="3200400" cy="731520"/>
          </a:xfrm>
          <a:prstGeom prst="rect">
            <a:avLst/>
          </a:prstGeom>
          <a:noFill/>
          <a:ln/>
        </p:spPr>
        <p:txBody>
          <a:bodyPr wrap="square" lIns="0" tIns="0" rIns="0" bIns="0" rtlCol="0" anchor="t"/>
          <a:lstStyle/>
          <a:p>
            <a:pPr indent="0" marL="0">
              <a:buNone/>
            </a:pPr>
            <a:r>
              <a:rPr lang="en-US" sz="2200" b="1" dirty="0">
                <a:solidFill>
                  <a:srgbClr val="1E3B2F"/>
                </a:solidFill>
              </a:rPr>
              <a:t>Review 3</a:t>
            </a:r>
            <a:endParaRPr lang="en-US" sz="1600" dirty="0"/>
          </a:p>
          <a:p>
            <a:pPr indent="0" marL="0">
              <a:buNone/>
            </a:pPr>
            <a:r>
              <a:rPr lang="en-US" sz="1400" dirty="0">
                <a:solidFill>
                  <a:srgbClr val="5E6F66"/>
                </a:solidFill>
              </a:rPr>
              <a:t>26 Oct 2026</a:t>
            </a:r>
            <a:endParaRPr lang="en-US" sz="1600" dirty="0"/>
          </a:p>
        </p:txBody>
      </p:sp>
      <p:sp>
        <p:nvSpPr>
          <p:cNvPr id="19" name="Text 17"/>
          <p:cNvSpPr txBox="1"/>
          <p:nvPr/>
        </p:nvSpPr>
        <p:spPr>
          <a:xfrm>
            <a:off x="8458200" y="3657600"/>
            <a:ext cx="3108960" cy="1280160"/>
          </a:xfrm>
          <a:prstGeom prst="rect">
            <a:avLst/>
          </a:prstGeom>
          <a:noFill/>
          <a:ln/>
        </p:spPr>
        <p:txBody>
          <a:bodyPr wrap="square" lIns="0" tIns="0" rIns="0" bIns="0" rtlCol="0" anchor="t"/>
          <a:lstStyle/>
          <a:p>
            <a:pPr indent="0" marL="0">
              <a:buNone/>
            </a:pPr>
            <a:r>
              <a:rPr lang="en-US" sz="1600" dirty="0">
                <a:solidFill>
                  <a:schemeClr val="tx1"/>
                </a:solidFill>
              </a:rPr>
              <a:t>A web app on the same database: CRUD, search, reports, validation, 30 tests</a:t>
            </a:r>
            <a:endParaRPr lang="en-US" sz="1600" dirty="0"/>
          </a:p>
        </p:txBody>
      </p:sp>
      <p:sp>
        <p:nvSpPr>
          <p:cNvPr id="20" name="note box"/>
          <p:cNvSpPr/>
          <p:nvPr/>
        </p:nvSpPr>
        <p:spPr>
          <a:xfrm>
            <a:off x="960120" y="5257800"/>
            <a:ext cx="10241280" cy="685800"/>
          </a:xfrm>
          <a:prstGeom prst="roundRect">
            <a:avLst>
              <a:gd name="adj" fmla="val 13333"/>
            </a:avLst>
          </a:prstGeom>
          <a:solidFill>
            <a:srgbClr val="EDF1EC"/>
          </a:solidFill>
          <a:ln w="12700">
            <a:solidFill>
              <a:srgbClr val="EDF1EC"/>
            </a:solidFill>
            <a:prstDash val="solid"/>
          </a:ln>
        </p:spPr>
      </p:sp>
      <p:sp>
        <p:nvSpPr>
          <p:cNvPr id="21" name="Text 19"/>
          <p:cNvSpPr txBox="1"/>
          <p:nvPr/>
        </p:nvSpPr>
        <p:spPr>
          <a:xfrm>
            <a:off x="1234440" y="5257800"/>
            <a:ext cx="9784080" cy="685800"/>
          </a:xfrm>
          <a:prstGeom prst="rect">
            <a:avLst/>
          </a:prstGeom>
          <a:noFill/>
          <a:ln/>
        </p:spPr>
        <p:txBody>
          <a:bodyPr wrap="square" lIns="0" tIns="0" rIns="0" bIns="0" rtlCol="0" anchor="ctr"/>
          <a:lstStyle/>
          <a:p>
            <a:pPr indent="0" marL="0">
              <a:buNone/>
            </a:pPr>
            <a:r>
              <a:rPr lang="en-US" sz="1600" dirty="0">
                <a:solidFill>
                  <a:schemeClr val="tx1"/>
                </a:solidFill>
              </a:rPr>
              <a:t>The seven tables from Review 2 did not change. Review 3 adds one trigger, one stored procedure and the application.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lIns="0" tIns="0" rIns="0" bIns="0" rtlCol="0" anchor="ctr"/>
          <a:lstStyle/>
          <a:p>
            <a:pPr algn="l" indent="0" marL="0">
              <a:buNone/>
            </a:pPr>
            <a:r>
              <a:rPr lang="en-US" sz="3200" b="1" dirty="0">
                <a:solidFill>
                  <a:schemeClr val="tx2"/>
                </a:solidFill>
              </a:rPr>
              <a:t>What Review 3 asks for, and where we show it</a:t>
            </a:r>
            <a:endParaRPr lang="en-US" sz="3200" dirty="0"/>
          </a:p>
        </p:txBody>
      </p:sp>
      <p:sp>
        <p:nvSpPr>
          <p:cNvPr id="3" name="meter digit 0"/>
          <p:cNvSpPr/>
          <p:nvPr/>
        </p:nvSpPr>
        <p:spPr>
          <a:xfrm>
            <a:off x="11091672" y="502920"/>
            <a:ext cx="274320" cy="402336"/>
          </a:xfrm>
          <a:prstGeom prst="roundRect">
            <a:avLst>
              <a:gd name="adj" fmla="val 13333"/>
            </a:avLst>
          </a:prstGeom>
          <a:solidFill>
            <a:srgbClr val="14261E"/>
          </a:solidFill>
          <a:ln w="6350">
            <a:solidFill>
              <a:srgbClr val="000000"/>
            </a:solidFill>
            <a:prstDash val="solid"/>
          </a:ln>
        </p:spPr>
      </p:sp>
      <p:sp>
        <p:nvSpPr>
          <p:cNvPr id="4" name="Text 2"/>
          <p:cNvSpPr txBox="1"/>
          <p:nvPr/>
        </p:nvSpPr>
        <p:spPr>
          <a:xfrm>
            <a:off x="11091672" y="502920"/>
            <a:ext cx="27432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a:t>
            </a:r>
            <a:endParaRPr lang="en-US" sz="1600" dirty="0"/>
          </a:p>
        </p:txBody>
      </p:sp>
      <p:sp>
        <p:nvSpPr>
          <p:cNvPr id="5" name="meter digit 1"/>
          <p:cNvSpPr/>
          <p:nvPr/>
        </p:nvSpPr>
        <p:spPr>
          <a:xfrm>
            <a:off x="11393424" y="502920"/>
            <a:ext cx="274320" cy="402336"/>
          </a:xfrm>
          <a:prstGeom prst="roundRect">
            <a:avLst>
              <a:gd name="adj" fmla="val 13333"/>
            </a:avLst>
          </a:prstGeom>
          <a:solidFill>
            <a:srgbClr val="C8371E"/>
          </a:solidFill>
          <a:ln w="6350">
            <a:solidFill>
              <a:srgbClr val="000000"/>
            </a:solidFill>
            <a:prstDash val="solid"/>
          </a:ln>
        </p:spPr>
      </p:sp>
      <p:sp>
        <p:nvSpPr>
          <p:cNvPr id="6" name="Text 4"/>
          <p:cNvSpPr txBox="1"/>
          <p:nvPr/>
        </p:nvSpPr>
        <p:spPr>
          <a:xfrm>
            <a:off x="11393424" y="502920"/>
            <a:ext cx="27432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7" name="req 1"/>
          <p:cNvSpPr/>
          <p:nvPr/>
        </p:nvSpPr>
        <p:spPr>
          <a:xfrm>
            <a:off x="548640" y="1508760"/>
            <a:ext cx="5303520" cy="713232"/>
          </a:xfrm>
          <a:prstGeom prst="roundRect">
            <a:avLst>
              <a:gd name="adj" fmla="val 10256"/>
            </a:avLst>
          </a:prstGeom>
          <a:solidFill>
            <a:srgbClr val="EDF1EC"/>
          </a:solidFill>
          <a:ln w="12700">
            <a:solidFill>
              <a:srgbClr val="EDF1EC"/>
            </a:solidFill>
            <a:prstDash val="solid"/>
          </a:ln>
        </p:spPr>
      </p:sp>
      <p:sp>
        <p:nvSpPr>
          <p:cNvPr id="8" name="tick 1"/>
          <p:cNvSpPr/>
          <p:nvPr/>
        </p:nvSpPr>
        <p:spPr>
          <a:xfrm>
            <a:off x="749808" y="1691640"/>
            <a:ext cx="347472" cy="347472"/>
          </a:xfrm>
          <a:prstGeom prst="ellipse">
            <a:avLst/>
          </a:prstGeom>
          <a:solidFill>
            <a:srgbClr val="1E3B2F"/>
          </a:solidFill>
          <a:ln w="12700">
            <a:solidFill>
              <a:srgbClr val="1E3B2F"/>
            </a:solidFill>
            <a:prstDash val="solid"/>
          </a:ln>
        </p:spPr>
      </p:sp>
      <p:sp>
        <p:nvSpPr>
          <p:cNvPr id="9" name="Text 7"/>
          <p:cNvSpPr txBox="1"/>
          <p:nvPr/>
        </p:nvSpPr>
        <p:spPr>
          <a:xfrm>
            <a:off x="749808" y="1691640"/>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0" name="Text 8"/>
          <p:cNvSpPr txBox="1"/>
          <p:nvPr/>
        </p:nvSpPr>
        <p:spPr>
          <a:xfrm>
            <a:off x="1280160" y="1508760"/>
            <a:ext cx="3108960" cy="713232"/>
          </a:xfrm>
          <a:prstGeom prst="rect">
            <a:avLst/>
          </a:prstGeom>
          <a:noFill/>
          <a:ln/>
        </p:spPr>
        <p:txBody>
          <a:bodyPr wrap="square" lIns="0" tIns="0" rIns="0" bIns="0" rtlCol="0" anchor="ctr"/>
          <a:lstStyle/>
          <a:p>
            <a:pPr indent="0" marL="0">
              <a:buNone/>
            </a:pPr>
            <a:r>
              <a:rPr lang="en-US" sz="1800" dirty="0">
                <a:solidFill>
                  <a:schemeClr val="tx1"/>
                </a:solidFill>
              </a:rPr>
              <a:t>Simple user interface</a:t>
            </a:r>
            <a:endParaRPr lang="en-US" sz="1800" dirty="0"/>
          </a:p>
        </p:txBody>
      </p:sp>
      <p:sp>
        <p:nvSpPr>
          <p:cNvPr id="11" name="Text 9"/>
          <p:cNvSpPr txBox="1"/>
          <p:nvPr/>
        </p:nvSpPr>
        <p:spPr>
          <a:xfrm>
            <a:off x="4297680" y="1508760"/>
            <a:ext cx="1371600" cy="713232"/>
          </a:xfrm>
          <a:prstGeom prst="rect">
            <a:avLst/>
          </a:prstGeom>
          <a:noFill/>
          <a:ln/>
        </p:spPr>
        <p:txBody>
          <a:bodyPr wrap="square" lIns="0" tIns="0" rIns="0" bIns="0" rtlCol="0" anchor="ctr"/>
          <a:lstStyle/>
          <a:p>
            <a:pPr algn="r" indent="0" marL="0">
              <a:buNone/>
            </a:pPr>
            <a:r>
              <a:rPr lang="en-US" sz="1400" dirty="0">
                <a:solidFill>
                  <a:srgbClr val="5E6F66"/>
                </a:solidFill>
              </a:rPr>
              <a:t>slide 5</a:t>
            </a:r>
            <a:endParaRPr lang="en-US" sz="1400" dirty="0"/>
          </a:p>
        </p:txBody>
      </p:sp>
      <p:sp>
        <p:nvSpPr>
          <p:cNvPr id="12" name="req 2"/>
          <p:cNvSpPr/>
          <p:nvPr/>
        </p:nvSpPr>
        <p:spPr>
          <a:xfrm>
            <a:off x="548640" y="2404872"/>
            <a:ext cx="5303520" cy="713232"/>
          </a:xfrm>
          <a:prstGeom prst="roundRect">
            <a:avLst>
              <a:gd name="adj" fmla="val 10256"/>
            </a:avLst>
          </a:prstGeom>
          <a:solidFill>
            <a:srgbClr val="EDF1EC"/>
          </a:solidFill>
          <a:ln w="12700">
            <a:solidFill>
              <a:srgbClr val="EDF1EC"/>
            </a:solidFill>
            <a:prstDash val="solid"/>
          </a:ln>
        </p:spPr>
      </p:sp>
      <p:sp>
        <p:nvSpPr>
          <p:cNvPr id="13" name="tick 2"/>
          <p:cNvSpPr/>
          <p:nvPr/>
        </p:nvSpPr>
        <p:spPr>
          <a:xfrm>
            <a:off x="749808" y="2587752"/>
            <a:ext cx="347472" cy="347472"/>
          </a:xfrm>
          <a:prstGeom prst="ellipse">
            <a:avLst/>
          </a:prstGeom>
          <a:solidFill>
            <a:srgbClr val="1E3B2F"/>
          </a:solidFill>
          <a:ln w="12700">
            <a:solidFill>
              <a:srgbClr val="1E3B2F"/>
            </a:solidFill>
            <a:prstDash val="solid"/>
          </a:ln>
        </p:spPr>
      </p:sp>
      <p:sp>
        <p:nvSpPr>
          <p:cNvPr id="14" name="Text 12"/>
          <p:cNvSpPr txBox="1"/>
          <p:nvPr/>
        </p:nvSpPr>
        <p:spPr>
          <a:xfrm>
            <a:off x="749808" y="258775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5" name="Text 13"/>
          <p:cNvSpPr txBox="1"/>
          <p:nvPr/>
        </p:nvSpPr>
        <p:spPr>
          <a:xfrm>
            <a:off x="1280160" y="2404872"/>
            <a:ext cx="3108960" cy="713232"/>
          </a:xfrm>
          <a:prstGeom prst="rect">
            <a:avLst/>
          </a:prstGeom>
          <a:noFill/>
          <a:ln/>
        </p:spPr>
        <p:txBody>
          <a:bodyPr wrap="square" lIns="0" tIns="0" rIns="0" bIns="0" rtlCol="0" anchor="ctr"/>
          <a:lstStyle/>
          <a:p>
            <a:pPr indent="0" marL="0">
              <a:buNone/>
            </a:pPr>
            <a:r>
              <a:rPr lang="en-US" sz="1800" dirty="0">
                <a:solidFill>
                  <a:schemeClr val="tx1"/>
                </a:solidFill>
              </a:rPr>
              <a:t>Database connectivity</a:t>
            </a:r>
            <a:endParaRPr lang="en-US" sz="1800" dirty="0"/>
          </a:p>
        </p:txBody>
      </p:sp>
      <p:sp>
        <p:nvSpPr>
          <p:cNvPr id="16" name="Text 14"/>
          <p:cNvSpPr txBox="1"/>
          <p:nvPr/>
        </p:nvSpPr>
        <p:spPr>
          <a:xfrm>
            <a:off x="4297680" y="2404872"/>
            <a:ext cx="1371600" cy="713232"/>
          </a:xfrm>
          <a:prstGeom prst="rect">
            <a:avLst/>
          </a:prstGeom>
          <a:noFill/>
          <a:ln/>
        </p:spPr>
        <p:txBody>
          <a:bodyPr wrap="square" lIns="0" tIns="0" rIns="0" bIns="0" rtlCol="0" anchor="ctr"/>
          <a:lstStyle/>
          <a:p>
            <a:pPr algn="r" indent="0" marL="0">
              <a:buNone/>
            </a:pPr>
            <a:r>
              <a:rPr lang="en-US" sz="1400" dirty="0">
                <a:solidFill>
                  <a:srgbClr val="5E6F66"/>
                </a:solidFill>
              </a:rPr>
              <a:t>slide 6</a:t>
            </a:r>
            <a:endParaRPr lang="en-US" sz="1400" dirty="0"/>
          </a:p>
        </p:txBody>
      </p:sp>
      <p:sp>
        <p:nvSpPr>
          <p:cNvPr id="17" name="req 3"/>
          <p:cNvSpPr/>
          <p:nvPr/>
        </p:nvSpPr>
        <p:spPr>
          <a:xfrm>
            <a:off x="548640" y="3300984"/>
            <a:ext cx="5303520" cy="713232"/>
          </a:xfrm>
          <a:prstGeom prst="roundRect">
            <a:avLst>
              <a:gd name="adj" fmla="val 10256"/>
            </a:avLst>
          </a:prstGeom>
          <a:solidFill>
            <a:srgbClr val="EDF1EC"/>
          </a:solidFill>
          <a:ln w="12700">
            <a:solidFill>
              <a:srgbClr val="EDF1EC"/>
            </a:solidFill>
            <a:prstDash val="solid"/>
          </a:ln>
        </p:spPr>
      </p:sp>
      <p:sp>
        <p:nvSpPr>
          <p:cNvPr id="18" name="tick 3"/>
          <p:cNvSpPr/>
          <p:nvPr/>
        </p:nvSpPr>
        <p:spPr>
          <a:xfrm>
            <a:off x="749808" y="3483864"/>
            <a:ext cx="347472" cy="347472"/>
          </a:xfrm>
          <a:prstGeom prst="ellipse">
            <a:avLst/>
          </a:prstGeom>
          <a:solidFill>
            <a:srgbClr val="1E3B2F"/>
          </a:solidFill>
          <a:ln w="12700">
            <a:solidFill>
              <a:srgbClr val="1E3B2F"/>
            </a:solidFill>
            <a:prstDash val="solid"/>
          </a:ln>
        </p:spPr>
      </p:sp>
      <p:sp>
        <p:nvSpPr>
          <p:cNvPr id="19" name="Text 17"/>
          <p:cNvSpPr txBox="1"/>
          <p:nvPr/>
        </p:nvSpPr>
        <p:spPr>
          <a:xfrm>
            <a:off x="749808" y="348386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20" name="Text 18"/>
          <p:cNvSpPr txBox="1"/>
          <p:nvPr/>
        </p:nvSpPr>
        <p:spPr>
          <a:xfrm>
            <a:off x="1280160" y="3300984"/>
            <a:ext cx="3108960" cy="713232"/>
          </a:xfrm>
          <a:prstGeom prst="rect">
            <a:avLst/>
          </a:prstGeom>
          <a:noFill/>
          <a:ln/>
        </p:spPr>
        <p:txBody>
          <a:bodyPr wrap="square" lIns="0" tIns="0" rIns="0" bIns="0" rtlCol="0" anchor="ctr"/>
          <a:lstStyle/>
          <a:p>
            <a:pPr indent="0" marL="0">
              <a:buNone/>
            </a:pPr>
            <a:r>
              <a:rPr lang="en-US" sz="1800" dirty="0">
                <a:solidFill>
                  <a:schemeClr val="tx1"/>
                </a:solidFill>
              </a:rPr>
              <a:t>CRUD operations</a:t>
            </a:r>
            <a:endParaRPr lang="en-US" sz="1800" dirty="0"/>
          </a:p>
        </p:txBody>
      </p:sp>
      <p:sp>
        <p:nvSpPr>
          <p:cNvPr id="21" name="Text 19"/>
          <p:cNvSpPr txBox="1"/>
          <p:nvPr/>
        </p:nvSpPr>
        <p:spPr>
          <a:xfrm>
            <a:off x="4297680" y="3300984"/>
            <a:ext cx="1371600" cy="713232"/>
          </a:xfrm>
          <a:prstGeom prst="rect">
            <a:avLst/>
          </a:prstGeom>
          <a:noFill/>
          <a:ln/>
        </p:spPr>
        <p:txBody>
          <a:bodyPr wrap="square" lIns="0" tIns="0" rIns="0" bIns="0" rtlCol="0" anchor="ctr"/>
          <a:lstStyle/>
          <a:p>
            <a:pPr algn="r" indent="0" marL="0">
              <a:buNone/>
            </a:pPr>
            <a:r>
              <a:rPr lang="en-US" sz="1400" dirty="0">
                <a:solidFill>
                  <a:srgbClr val="5E6F66"/>
                </a:solidFill>
              </a:rPr>
              <a:t>slide 7, 8</a:t>
            </a:r>
            <a:endParaRPr lang="en-US" sz="1400" dirty="0"/>
          </a:p>
        </p:txBody>
      </p:sp>
      <p:sp>
        <p:nvSpPr>
          <p:cNvPr id="22" name="req 4"/>
          <p:cNvSpPr/>
          <p:nvPr/>
        </p:nvSpPr>
        <p:spPr>
          <a:xfrm>
            <a:off x="548640" y="4197096"/>
            <a:ext cx="5303520" cy="713232"/>
          </a:xfrm>
          <a:prstGeom prst="roundRect">
            <a:avLst>
              <a:gd name="adj" fmla="val 10256"/>
            </a:avLst>
          </a:prstGeom>
          <a:solidFill>
            <a:srgbClr val="EDF1EC"/>
          </a:solidFill>
          <a:ln w="12700">
            <a:solidFill>
              <a:srgbClr val="EDF1EC"/>
            </a:solidFill>
            <a:prstDash val="solid"/>
          </a:ln>
        </p:spPr>
      </p:sp>
      <p:sp>
        <p:nvSpPr>
          <p:cNvPr id="23" name="tick 4"/>
          <p:cNvSpPr/>
          <p:nvPr/>
        </p:nvSpPr>
        <p:spPr>
          <a:xfrm>
            <a:off x="749808" y="4379976"/>
            <a:ext cx="347472" cy="347472"/>
          </a:xfrm>
          <a:prstGeom prst="ellipse">
            <a:avLst/>
          </a:prstGeom>
          <a:solidFill>
            <a:srgbClr val="1E3B2F"/>
          </a:solidFill>
          <a:ln w="12700">
            <a:solidFill>
              <a:srgbClr val="1E3B2F"/>
            </a:solidFill>
            <a:prstDash val="solid"/>
          </a:ln>
        </p:spPr>
      </p:sp>
      <p:sp>
        <p:nvSpPr>
          <p:cNvPr id="24" name="Text 22"/>
          <p:cNvSpPr txBox="1"/>
          <p:nvPr/>
        </p:nvSpPr>
        <p:spPr>
          <a:xfrm>
            <a:off x="749808" y="437997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25" name="Text 23"/>
          <p:cNvSpPr txBox="1"/>
          <p:nvPr/>
        </p:nvSpPr>
        <p:spPr>
          <a:xfrm>
            <a:off x="1280160" y="4197096"/>
            <a:ext cx="3108960" cy="713232"/>
          </a:xfrm>
          <a:prstGeom prst="rect">
            <a:avLst/>
          </a:prstGeom>
          <a:noFill/>
          <a:ln/>
        </p:spPr>
        <p:txBody>
          <a:bodyPr wrap="square" lIns="0" tIns="0" rIns="0" bIns="0" rtlCol="0" anchor="ctr"/>
          <a:lstStyle/>
          <a:p>
            <a:pPr indent="0" marL="0">
              <a:buNone/>
            </a:pPr>
            <a:r>
              <a:rPr lang="en-US" sz="1800" dirty="0">
                <a:solidFill>
                  <a:schemeClr val="tx1"/>
                </a:solidFill>
              </a:rPr>
              <a:t>Search and retrieval</a:t>
            </a:r>
            <a:endParaRPr lang="en-US" sz="1800" dirty="0"/>
          </a:p>
        </p:txBody>
      </p:sp>
      <p:sp>
        <p:nvSpPr>
          <p:cNvPr id="26" name="Text 24"/>
          <p:cNvSpPr txBox="1"/>
          <p:nvPr/>
        </p:nvSpPr>
        <p:spPr>
          <a:xfrm>
            <a:off x="4297680" y="4197096"/>
            <a:ext cx="1371600" cy="713232"/>
          </a:xfrm>
          <a:prstGeom prst="rect">
            <a:avLst/>
          </a:prstGeom>
          <a:noFill/>
          <a:ln/>
        </p:spPr>
        <p:txBody>
          <a:bodyPr wrap="square" lIns="0" tIns="0" rIns="0" bIns="0" rtlCol="0" anchor="ctr"/>
          <a:lstStyle/>
          <a:p>
            <a:pPr algn="r" indent="0" marL="0">
              <a:buNone/>
            </a:pPr>
            <a:r>
              <a:rPr lang="en-US" sz="1400" dirty="0">
                <a:solidFill>
                  <a:srgbClr val="5E6F66"/>
                </a:solidFill>
              </a:rPr>
              <a:t>slide 9</a:t>
            </a:r>
            <a:endParaRPr lang="en-US" sz="1400" dirty="0"/>
          </a:p>
        </p:txBody>
      </p:sp>
      <p:sp>
        <p:nvSpPr>
          <p:cNvPr id="27" name="req 5"/>
          <p:cNvSpPr/>
          <p:nvPr/>
        </p:nvSpPr>
        <p:spPr>
          <a:xfrm>
            <a:off x="548640" y="5093208"/>
            <a:ext cx="5303520" cy="713232"/>
          </a:xfrm>
          <a:prstGeom prst="roundRect">
            <a:avLst>
              <a:gd name="adj" fmla="val 10256"/>
            </a:avLst>
          </a:prstGeom>
          <a:solidFill>
            <a:srgbClr val="EDF1EC"/>
          </a:solidFill>
          <a:ln w="12700">
            <a:solidFill>
              <a:srgbClr val="EDF1EC"/>
            </a:solidFill>
            <a:prstDash val="solid"/>
          </a:ln>
        </p:spPr>
      </p:sp>
      <p:sp>
        <p:nvSpPr>
          <p:cNvPr id="28" name="tick 5"/>
          <p:cNvSpPr/>
          <p:nvPr/>
        </p:nvSpPr>
        <p:spPr>
          <a:xfrm>
            <a:off x="749808" y="5276088"/>
            <a:ext cx="347472" cy="347472"/>
          </a:xfrm>
          <a:prstGeom prst="ellipse">
            <a:avLst/>
          </a:prstGeom>
          <a:solidFill>
            <a:srgbClr val="1E3B2F"/>
          </a:solidFill>
          <a:ln w="12700">
            <a:solidFill>
              <a:srgbClr val="1E3B2F"/>
            </a:solidFill>
            <a:prstDash val="solid"/>
          </a:ln>
        </p:spPr>
      </p:sp>
      <p:sp>
        <p:nvSpPr>
          <p:cNvPr id="29" name="Text 27"/>
          <p:cNvSpPr txBox="1"/>
          <p:nvPr/>
        </p:nvSpPr>
        <p:spPr>
          <a:xfrm>
            <a:off x="749808" y="527608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30" name="Text 28"/>
          <p:cNvSpPr txBox="1"/>
          <p:nvPr/>
        </p:nvSpPr>
        <p:spPr>
          <a:xfrm>
            <a:off x="1280160" y="5093208"/>
            <a:ext cx="3108960" cy="713232"/>
          </a:xfrm>
          <a:prstGeom prst="rect">
            <a:avLst/>
          </a:prstGeom>
          <a:noFill/>
          <a:ln/>
        </p:spPr>
        <p:txBody>
          <a:bodyPr wrap="square" lIns="0" tIns="0" rIns="0" bIns="0" rtlCol="0" anchor="ctr"/>
          <a:lstStyle/>
          <a:p>
            <a:pPr indent="0" marL="0">
              <a:buNone/>
            </a:pPr>
            <a:r>
              <a:rPr lang="en-US" sz="1800" dirty="0">
                <a:solidFill>
                  <a:schemeClr val="tx1"/>
                </a:solidFill>
              </a:rPr>
              <a:t>SQL queries through the app</a:t>
            </a:r>
            <a:endParaRPr lang="en-US" sz="1800" dirty="0"/>
          </a:p>
        </p:txBody>
      </p:sp>
      <p:sp>
        <p:nvSpPr>
          <p:cNvPr id="31" name="Text 29"/>
          <p:cNvSpPr txBox="1"/>
          <p:nvPr/>
        </p:nvSpPr>
        <p:spPr>
          <a:xfrm>
            <a:off x="4297680" y="5093208"/>
            <a:ext cx="1371600" cy="713232"/>
          </a:xfrm>
          <a:prstGeom prst="rect">
            <a:avLst/>
          </a:prstGeom>
          <a:noFill/>
          <a:ln/>
        </p:spPr>
        <p:txBody>
          <a:bodyPr wrap="square" lIns="0" tIns="0" rIns="0" bIns="0" rtlCol="0" anchor="ctr"/>
          <a:lstStyle/>
          <a:p>
            <a:pPr algn="r" indent="0" marL="0">
              <a:buNone/>
            </a:pPr>
            <a:r>
              <a:rPr lang="en-US" sz="1400" dirty="0">
                <a:solidFill>
                  <a:srgbClr val="5E6F66"/>
                </a:solidFill>
              </a:rPr>
              <a:t>slide 10, 11</a:t>
            </a:r>
            <a:endParaRPr lang="en-US" sz="1400" dirty="0"/>
          </a:p>
        </p:txBody>
      </p:sp>
      <p:sp>
        <p:nvSpPr>
          <p:cNvPr id="32" name="req 6"/>
          <p:cNvSpPr/>
          <p:nvPr/>
        </p:nvSpPr>
        <p:spPr>
          <a:xfrm>
            <a:off x="6217920" y="1508760"/>
            <a:ext cx="5303520" cy="713232"/>
          </a:xfrm>
          <a:prstGeom prst="roundRect">
            <a:avLst>
              <a:gd name="adj" fmla="val 10256"/>
            </a:avLst>
          </a:prstGeom>
          <a:solidFill>
            <a:srgbClr val="EDF1EC"/>
          </a:solidFill>
          <a:ln w="12700">
            <a:solidFill>
              <a:srgbClr val="EDF1EC"/>
            </a:solidFill>
            <a:prstDash val="solid"/>
          </a:ln>
        </p:spPr>
      </p:sp>
      <p:sp>
        <p:nvSpPr>
          <p:cNvPr id="33" name="tick 6"/>
          <p:cNvSpPr/>
          <p:nvPr/>
        </p:nvSpPr>
        <p:spPr>
          <a:xfrm>
            <a:off x="6419088" y="1691640"/>
            <a:ext cx="347472" cy="347472"/>
          </a:xfrm>
          <a:prstGeom prst="ellipse">
            <a:avLst/>
          </a:prstGeom>
          <a:solidFill>
            <a:srgbClr val="1E3B2F"/>
          </a:solidFill>
          <a:ln w="12700">
            <a:solidFill>
              <a:srgbClr val="1E3B2F"/>
            </a:solidFill>
            <a:prstDash val="solid"/>
          </a:ln>
        </p:spPr>
      </p:sp>
      <p:sp>
        <p:nvSpPr>
          <p:cNvPr id="34" name="Text 32"/>
          <p:cNvSpPr txBox="1"/>
          <p:nvPr/>
        </p:nvSpPr>
        <p:spPr>
          <a:xfrm>
            <a:off x="6419088" y="1691640"/>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35" name="Text 33"/>
          <p:cNvSpPr txBox="1"/>
          <p:nvPr/>
        </p:nvSpPr>
        <p:spPr>
          <a:xfrm>
            <a:off x="6949440" y="1508760"/>
            <a:ext cx="3108960" cy="713232"/>
          </a:xfrm>
          <a:prstGeom prst="rect">
            <a:avLst/>
          </a:prstGeom>
          <a:noFill/>
          <a:ln/>
        </p:spPr>
        <p:txBody>
          <a:bodyPr wrap="square" lIns="0" tIns="0" rIns="0" bIns="0" rtlCol="0" anchor="ctr"/>
          <a:lstStyle/>
          <a:p>
            <a:pPr indent="0" marL="0">
              <a:buNone/>
            </a:pPr>
            <a:r>
              <a:rPr lang="en-US" sz="1800" dirty="0">
                <a:solidFill>
                  <a:schemeClr val="tx1"/>
                </a:solidFill>
              </a:rPr>
              <a:t>Input validation</a:t>
            </a:r>
            <a:endParaRPr lang="en-US" sz="1800" dirty="0"/>
          </a:p>
        </p:txBody>
      </p:sp>
      <p:sp>
        <p:nvSpPr>
          <p:cNvPr id="36" name="Text 34"/>
          <p:cNvSpPr txBox="1"/>
          <p:nvPr/>
        </p:nvSpPr>
        <p:spPr>
          <a:xfrm>
            <a:off x="9966960" y="1508760"/>
            <a:ext cx="1371600" cy="713232"/>
          </a:xfrm>
          <a:prstGeom prst="rect">
            <a:avLst/>
          </a:prstGeom>
          <a:noFill/>
          <a:ln/>
        </p:spPr>
        <p:txBody>
          <a:bodyPr wrap="square" lIns="0" tIns="0" rIns="0" bIns="0" rtlCol="0" anchor="ctr"/>
          <a:lstStyle/>
          <a:p>
            <a:pPr algn="r" indent="0" marL="0">
              <a:buNone/>
            </a:pPr>
            <a:r>
              <a:rPr lang="en-US" sz="1400" dirty="0">
                <a:solidFill>
                  <a:srgbClr val="5E6F66"/>
                </a:solidFill>
              </a:rPr>
              <a:t>slide 12</a:t>
            </a:r>
            <a:endParaRPr lang="en-US" sz="1400" dirty="0"/>
          </a:p>
        </p:txBody>
      </p:sp>
      <p:sp>
        <p:nvSpPr>
          <p:cNvPr id="37" name="req 7"/>
          <p:cNvSpPr/>
          <p:nvPr/>
        </p:nvSpPr>
        <p:spPr>
          <a:xfrm>
            <a:off x="6217920" y="2404872"/>
            <a:ext cx="5303520" cy="713232"/>
          </a:xfrm>
          <a:prstGeom prst="roundRect">
            <a:avLst>
              <a:gd name="adj" fmla="val 10256"/>
            </a:avLst>
          </a:prstGeom>
          <a:solidFill>
            <a:srgbClr val="EDF1EC"/>
          </a:solidFill>
          <a:ln w="12700">
            <a:solidFill>
              <a:srgbClr val="EDF1EC"/>
            </a:solidFill>
            <a:prstDash val="solid"/>
          </a:ln>
        </p:spPr>
      </p:sp>
      <p:sp>
        <p:nvSpPr>
          <p:cNvPr id="38" name="tick 7"/>
          <p:cNvSpPr/>
          <p:nvPr/>
        </p:nvSpPr>
        <p:spPr>
          <a:xfrm>
            <a:off x="6419088" y="2587752"/>
            <a:ext cx="347472" cy="347472"/>
          </a:xfrm>
          <a:prstGeom prst="ellipse">
            <a:avLst/>
          </a:prstGeom>
          <a:solidFill>
            <a:srgbClr val="1E3B2F"/>
          </a:solidFill>
          <a:ln w="12700">
            <a:solidFill>
              <a:srgbClr val="1E3B2F"/>
            </a:solidFill>
            <a:prstDash val="solid"/>
          </a:ln>
        </p:spPr>
      </p:sp>
      <p:sp>
        <p:nvSpPr>
          <p:cNvPr id="39" name="Text 37"/>
          <p:cNvSpPr txBox="1"/>
          <p:nvPr/>
        </p:nvSpPr>
        <p:spPr>
          <a:xfrm>
            <a:off x="6419088" y="258775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40" name="Text 38"/>
          <p:cNvSpPr txBox="1"/>
          <p:nvPr/>
        </p:nvSpPr>
        <p:spPr>
          <a:xfrm>
            <a:off x="6949440" y="2404872"/>
            <a:ext cx="3108960" cy="713232"/>
          </a:xfrm>
          <a:prstGeom prst="rect">
            <a:avLst/>
          </a:prstGeom>
          <a:noFill/>
          <a:ln/>
        </p:spPr>
        <p:txBody>
          <a:bodyPr wrap="square" lIns="0" tIns="0" rIns="0" bIns="0" rtlCol="0" anchor="ctr"/>
          <a:lstStyle/>
          <a:p>
            <a:pPr indent="0" marL="0">
              <a:buNone/>
            </a:pPr>
            <a:r>
              <a:rPr lang="en-US" sz="1800" dirty="0">
                <a:solidFill>
                  <a:schemeClr val="tx1"/>
                </a:solidFill>
              </a:rPr>
              <a:t>Test cases</a:t>
            </a:r>
            <a:endParaRPr lang="en-US" sz="1800" dirty="0"/>
          </a:p>
        </p:txBody>
      </p:sp>
      <p:sp>
        <p:nvSpPr>
          <p:cNvPr id="41" name="Text 39"/>
          <p:cNvSpPr txBox="1"/>
          <p:nvPr/>
        </p:nvSpPr>
        <p:spPr>
          <a:xfrm>
            <a:off x="9966960" y="2404872"/>
            <a:ext cx="1371600" cy="713232"/>
          </a:xfrm>
          <a:prstGeom prst="rect">
            <a:avLst/>
          </a:prstGeom>
          <a:noFill/>
          <a:ln/>
        </p:spPr>
        <p:txBody>
          <a:bodyPr wrap="square" lIns="0" tIns="0" rIns="0" bIns="0" rtlCol="0" anchor="ctr"/>
          <a:lstStyle/>
          <a:p>
            <a:pPr algn="r" indent="0" marL="0">
              <a:buNone/>
            </a:pPr>
            <a:r>
              <a:rPr lang="en-US" sz="1400" dirty="0">
                <a:solidFill>
                  <a:srgbClr val="5E6F66"/>
                </a:solidFill>
              </a:rPr>
              <a:t>slide 13</a:t>
            </a:r>
            <a:endParaRPr lang="en-US" sz="1400" dirty="0"/>
          </a:p>
        </p:txBody>
      </p:sp>
      <p:sp>
        <p:nvSpPr>
          <p:cNvPr id="42" name="req 8"/>
          <p:cNvSpPr/>
          <p:nvPr/>
        </p:nvSpPr>
        <p:spPr>
          <a:xfrm>
            <a:off x="6217920" y="3300984"/>
            <a:ext cx="5303520" cy="713232"/>
          </a:xfrm>
          <a:prstGeom prst="roundRect">
            <a:avLst>
              <a:gd name="adj" fmla="val 10256"/>
            </a:avLst>
          </a:prstGeom>
          <a:solidFill>
            <a:srgbClr val="EDF1EC"/>
          </a:solidFill>
          <a:ln w="12700">
            <a:solidFill>
              <a:srgbClr val="EDF1EC"/>
            </a:solidFill>
            <a:prstDash val="solid"/>
          </a:ln>
        </p:spPr>
      </p:sp>
      <p:sp>
        <p:nvSpPr>
          <p:cNvPr id="43" name="tick 8"/>
          <p:cNvSpPr/>
          <p:nvPr/>
        </p:nvSpPr>
        <p:spPr>
          <a:xfrm>
            <a:off x="6419088" y="3483864"/>
            <a:ext cx="347472" cy="347472"/>
          </a:xfrm>
          <a:prstGeom prst="ellipse">
            <a:avLst/>
          </a:prstGeom>
          <a:solidFill>
            <a:srgbClr val="1E3B2F"/>
          </a:solidFill>
          <a:ln w="12700">
            <a:solidFill>
              <a:srgbClr val="1E3B2F"/>
            </a:solidFill>
            <a:prstDash val="solid"/>
          </a:ln>
        </p:spPr>
      </p:sp>
      <p:sp>
        <p:nvSpPr>
          <p:cNvPr id="44" name="Text 42"/>
          <p:cNvSpPr txBox="1"/>
          <p:nvPr/>
        </p:nvSpPr>
        <p:spPr>
          <a:xfrm>
            <a:off x="6419088" y="348386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45" name="Text 43"/>
          <p:cNvSpPr txBox="1"/>
          <p:nvPr/>
        </p:nvSpPr>
        <p:spPr>
          <a:xfrm>
            <a:off x="6949440" y="3300984"/>
            <a:ext cx="3108960" cy="713232"/>
          </a:xfrm>
          <a:prstGeom prst="rect">
            <a:avLst/>
          </a:prstGeom>
          <a:noFill/>
          <a:ln/>
        </p:spPr>
        <p:txBody>
          <a:bodyPr wrap="square" lIns="0" tIns="0" rIns="0" bIns="0" rtlCol="0" anchor="ctr"/>
          <a:lstStyle/>
          <a:p>
            <a:pPr indent="0" marL="0">
              <a:buNone/>
            </a:pPr>
            <a:r>
              <a:rPr lang="en-US" sz="1800" dirty="0">
                <a:solidFill>
                  <a:schemeClr val="tx1"/>
                </a:solidFill>
              </a:rPr>
              <a:t>Final database</a:t>
            </a:r>
            <a:endParaRPr lang="en-US" sz="1800" dirty="0"/>
          </a:p>
        </p:txBody>
      </p:sp>
      <p:sp>
        <p:nvSpPr>
          <p:cNvPr id="46" name="Text 44"/>
          <p:cNvSpPr txBox="1"/>
          <p:nvPr/>
        </p:nvSpPr>
        <p:spPr>
          <a:xfrm>
            <a:off x="9966960" y="3300984"/>
            <a:ext cx="1371600" cy="713232"/>
          </a:xfrm>
          <a:prstGeom prst="rect">
            <a:avLst/>
          </a:prstGeom>
          <a:noFill/>
          <a:ln/>
        </p:spPr>
        <p:txBody>
          <a:bodyPr wrap="square" lIns="0" tIns="0" rIns="0" bIns="0" rtlCol="0" anchor="ctr"/>
          <a:lstStyle/>
          <a:p>
            <a:pPr algn="r" indent="0" marL="0">
              <a:buNone/>
            </a:pPr>
            <a:r>
              <a:rPr lang="en-US" sz="1400" dirty="0">
                <a:solidFill>
                  <a:srgbClr val="5E6F66"/>
                </a:solidFill>
              </a:rPr>
              <a:t>slide 14</a:t>
            </a:r>
            <a:endParaRPr lang="en-US" sz="1400" dirty="0"/>
          </a:p>
        </p:txBody>
      </p:sp>
      <p:sp>
        <p:nvSpPr>
          <p:cNvPr id="47" name="req 9"/>
          <p:cNvSpPr/>
          <p:nvPr/>
        </p:nvSpPr>
        <p:spPr>
          <a:xfrm>
            <a:off x="6217920" y="4197096"/>
            <a:ext cx="5303520" cy="713232"/>
          </a:xfrm>
          <a:prstGeom prst="roundRect">
            <a:avLst>
              <a:gd name="adj" fmla="val 10256"/>
            </a:avLst>
          </a:prstGeom>
          <a:solidFill>
            <a:srgbClr val="EDF1EC"/>
          </a:solidFill>
          <a:ln w="12700">
            <a:solidFill>
              <a:srgbClr val="EDF1EC"/>
            </a:solidFill>
            <a:prstDash val="solid"/>
          </a:ln>
        </p:spPr>
      </p:sp>
      <p:sp>
        <p:nvSpPr>
          <p:cNvPr id="48" name="tick 9"/>
          <p:cNvSpPr/>
          <p:nvPr/>
        </p:nvSpPr>
        <p:spPr>
          <a:xfrm>
            <a:off x="6419088" y="4379976"/>
            <a:ext cx="347472" cy="347472"/>
          </a:xfrm>
          <a:prstGeom prst="ellipse">
            <a:avLst/>
          </a:prstGeom>
          <a:solidFill>
            <a:srgbClr val="1E3B2F"/>
          </a:solidFill>
          <a:ln w="12700">
            <a:solidFill>
              <a:srgbClr val="1E3B2F"/>
            </a:solidFill>
            <a:prstDash val="solid"/>
          </a:ln>
        </p:spPr>
      </p:sp>
      <p:sp>
        <p:nvSpPr>
          <p:cNvPr id="49" name="Text 47"/>
          <p:cNvSpPr txBox="1"/>
          <p:nvPr/>
        </p:nvSpPr>
        <p:spPr>
          <a:xfrm>
            <a:off x="6419088" y="437997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50" name="Text 48"/>
          <p:cNvSpPr txBox="1"/>
          <p:nvPr/>
        </p:nvSpPr>
        <p:spPr>
          <a:xfrm>
            <a:off x="6949440" y="4197096"/>
            <a:ext cx="3108960" cy="713232"/>
          </a:xfrm>
          <a:prstGeom prst="rect">
            <a:avLst/>
          </a:prstGeom>
          <a:noFill/>
          <a:ln/>
        </p:spPr>
        <p:txBody>
          <a:bodyPr wrap="square" lIns="0" tIns="0" rIns="0" bIns="0" rtlCol="0" anchor="ctr"/>
          <a:lstStyle/>
          <a:p>
            <a:pPr indent="0" marL="0">
              <a:buNone/>
            </a:pPr>
            <a:r>
              <a:rPr lang="en-US" sz="1800" dirty="0">
                <a:solidFill>
                  <a:schemeClr val="tx1"/>
                </a:solidFill>
              </a:rPr>
              <a:t>Final project report</a:t>
            </a:r>
            <a:endParaRPr lang="en-US" sz="1800" dirty="0"/>
          </a:p>
        </p:txBody>
      </p:sp>
      <p:sp>
        <p:nvSpPr>
          <p:cNvPr id="51" name="Text 49"/>
          <p:cNvSpPr txBox="1"/>
          <p:nvPr/>
        </p:nvSpPr>
        <p:spPr>
          <a:xfrm>
            <a:off x="9966960" y="4197096"/>
            <a:ext cx="1371600" cy="713232"/>
          </a:xfrm>
          <a:prstGeom prst="rect">
            <a:avLst/>
          </a:prstGeom>
          <a:noFill/>
          <a:ln/>
        </p:spPr>
        <p:txBody>
          <a:bodyPr wrap="square" lIns="0" tIns="0" rIns="0" bIns="0" rtlCol="0" anchor="ctr"/>
          <a:lstStyle/>
          <a:p>
            <a:pPr algn="r" indent="0" marL="0">
              <a:buNone/>
            </a:pPr>
            <a:r>
              <a:rPr lang="en-US" sz="1400" dirty="0">
                <a:solidFill>
                  <a:srgbClr val="5E6F66"/>
                </a:solidFill>
              </a:rPr>
              <a:t>report</a:t>
            </a:r>
            <a:endParaRPr lang="en-US" sz="1400" dirty="0"/>
          </a:p>
        </p:txBody>
      </p:sp>
      <p:sp>
        <p:nvSpPr>
          <p:cNvPr id="52" name="req 10"/>
          <p:cNvSpPr/>
          <p:nvPr/>
        </p:nvSpPr>
        <p:spPr>
          <a:xfrm>
            <a:off x="6217920" y="5093208"/>
            <a:ext cx="5303520" cy="713232"/>
          </a:xfrm>
          <a:prstGeom prst="roundRect">
            <a:avLst>
              <a:gd name="adj" fmla="val 10256"/>
            </a:avLst>
          </a:prstGeom>
          <a:solidFill>
            <a:srgbClr val="EDF1EC"/>
          </a:solidFill>
          <a:ln w="12700">
            <a:solidFill>
              <a:srgbClr val="EDF1EC"/>
            </a:solidFill>
            <a:prstDash val="solid"/>
          </a:ln>
        </p:spPr>
      </p:sp>
      <p:sp>
        <p:nvSpPr>
          <p:cNvPr id="53" name="tick 10"/>
          <p:cNvSpPr/>
          <p:nvPr/>
        </p:nvSpPr>
        <p:spPr>
          <a:xfrm>
            <a:off x="6419088" y="5276088"/>
            <a:ext cx="347472" cy="347472"/>
          </a:xfrm>
          <a:prstGeom prst="ellipse">
            <a:avLst/>
          </a:prstGeom>
          <a:solidFill>
            <a:srgbClr val="1E3B2F"/>
          </a:solidFill>
          <a:ln w="12700">
            <a:solidFill>
              <a:srgbClr val="1E3B2F"/>
            </a:solidFill>
            <a:prstDash val="solid"/>
          </a:ln>
        </p:spPr>
      </p:sp>
      <p:sp>
        <p:nvSpPr>
          <p:cNvPr id="54" name="Text 52"/>
          <p:cNvSpPr txBox="1"/>
          <p:nvPr/>
        </p:nvSpPr>
        <p:spPr>
          <a:xfrm>
            <a:off x="6419088" y="527608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55" name="Text 53"/>
          <p:cNvSpPr txBox="1"/>
          <p:nvPr/>
        </p:nvSpPr>
        <p:spPr>
          <a:xfrm>
            <a:off x="6949440" y="5093208"/>
            <a:ext cx="3108960" cy="713232"/>
          </a:xfrm>
          <a:prstGeom prst="rect">
            <a:avLst/>
          </a:prstGeom>
          <a:noFill/>
          <a:ln/>
        </p:spPr>
        <p:txBody>
          <a:bodyPr wrap="square" lIns="0" tIns="0" rIns="0" bIns="0" rtlCol="0" anchor="ctr"/>
          <a:lstStyle/>
          <a:p>
            <a:pPr indent="0" marL="0">
              <a:buNone/>
            </a:pPr>
            <a:r>
              <a:rPr lang="en-US" sz="1800" dirty="0">
                <a:solidFill>
                  <a:schemeClr val="tx1"/>
                </a:solidFill>
              </a:rPr>
              <a:t>Complete flow, live</a:t>
            </a:r>
            <a:endParaRPr lang="en-US" sz="1800" dirty="0"/>
          </a:p>
        </p:txBody>
      </p:sp>
      <p:sp>
        <p:nvSpPr>
          <p:cNvPr id="56" name="Text 54"/>
          <p:cNvSpPr txBox="1"/>
          <p:nvPr/>
        </p:nvSpPr>
        <p:spPr>
          <a:xfrm>
            <a:off x="9966960" y="5093208"/>
            <a:ext cx="1371600" cy="713232"/>
          </a:xfrm>
          <a:prstGeom prst="rect">
            <a:avLst/>
          </a:prstGeom>
          <a:noFill/>
          <a:ln/>
        </p:spPr>
        <p:txBody>
          <a:bodyPr wrap="square" lIns="0" tIns="0" rIns="0" bIns="0" rtlCol="0" anchor="ctr"/>
          <a:lstStyle/>
          <a:p>
            <a:pPr algn="r" indent="0" marL="0">
              <a:buNone/>
            </a:pPr>
            <a:r>
              <a:rPr lang="en-US" sz="1400" dirty="0">
                <a:solidFill>
                  <a:srgbClr val="5E6F66"/>
                </a:solidFill>
              </a:rPr>
              <a:t>slide 15</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lIns="0" tIns="0" rIns="0" bIns="0" rtlCol="0" anchor="ctr"/>
          <a:lstStyle/>
          <a:p>
            <a:pPr algn="l" indent="0" marL="0">
              <a:buNone/>
            </a:pPr>
            <a:r>
              <a:rPr lang="en-US" sz="3200" b="1" dirty="0">
                <a:solidFill>
                  <a:schemeClr val="tx2"/>
                </a:solidFill>
              </a:rPr>
              <a:t>How the app is put together</a:t>
            </a:r>
            <a:endParaRPr lang="en-US" sz="3200" dirty="0"/>
          </a:p>
        </p:txBody>
      </p:sp>
      <p:sp>
        <p:nvSpPr>
          <p:cNvPr id="3" name="meter digit 0"/>
          <p:cNvSpPr/>
          <p:nvPr/>
        </p:nvSpPr>
        <p:spPr>
          <a:xfrm>
            <a:off x="11091672" y="502920"/>
            <a:ext cx="274320" cy="402336"/>
          </a:xfrm>
          <a:prstGeom prst="roundRect">
            <a:avLst>
              <a:gd name="adj" fmla="val 13333"/>
            </a:avLst>
          </a:prstGeom>
          <a:solidFill>
            <a:srgbClr val="14261E"/>
          </a:solidFill>
          <a:ln w="6350">
            <a:solidFill>
              <a:srgbClr val="000000"/>
            </a:solidFill>
            <a:prstDash val="solid"/>
          </a:ln>
        </p:spPr>
      </p:sp>
      <p:sp>
        <p:nvSpPr>
          <p:cNvPr id="4" name="Text 2"/>
          <p:cNvSpPr txBox="1"/>
          <p:nvPr/>
        </p:nvSpPr>
        <p:spPr>
          <a:xfrm>
            <a:off x="11091672" y="502920"/>
            <a:ext cx="27432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a:t>
            </a:r>
            <a:endParaRPr lang="en-US" sz="1600" dirty="0"/>
          </a:p>
        </p:txBody>
      </p:sp>
      <p:sp>
        <p:nvSpPr>
          <p:cNvPr id="5" name="meter digit 1"/>
          <p:cNvSpPr/>
          <p:nvPr/>
        </p:nvSpPr>
        <p:spPr>
          <a:xfrm>
            <a:off x="11393424" y="502920"/>
            <a:ext cx="274320" cy="402336"/>
          </a:xfrm>
          <a:prstGeom prst="roundRect">
            <a:avLst>
              <a:gd name="adj" fmla="val 13333"/>
            </a:avLst>
          </a:prstGeom>
          <a:solidFill>
            <a:srgbClr val="C8371E"/>
          </a:solidFill>
          <a:ln w="6350">
            <a:solidFill>
              <a:srgbClr val="000000"/>
            </a:solidFill>
            <a:prstDash val="solid"/>
          </a:ln>
        </p:spPr>
      </p:sp>
      <p:sp>
        <p:nvSpPr>
          <p:cNvPr id="6" name="Text 4"/>
          <p:cNvSpPr txBox="1"/>
          <p:nvPr/>
        </p:nvSpPr>
        <p:spPr>
          <a:xfrm>
            <a:off x="11393424" y="502920"/>
            <a:ext cx="27432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pic>
        <p:nvPicPr>
          <p:cNvPr id="7" name="Image 0" descr="arch screenshot">    </p:cNvPr>
          <p:cNvPicPr>
            <a:picLocks noChangeAspect="1"/>
          </p:cNvPicPr>
          <p:nvPr/>
        </p:nvPicPr>
        <p:blipFill>
          <a:blip r:embed="rId1"/>
          <a:stretch>
            <a:fillRect/>
          </a:stretch>
        </p:blipFill>
        <p:spPr>
          <a:xfrm>
            <a:off x="548640" y="1417320"/>
            <a:ext cx="11064240" cy="3835603"/>
          </a:xfrm>
          <a:prstGeom prst="rect">
            <a:avLst/>
          </a:prstGeom>
          <a:effectLst>
            <a:outerShdw sx="100000" sy="100000" kx="0" ky="0" algn="bl" rotWithShape="0" blurRad="101600" dist="25400" dir="5400000">
              <a:srgbClr val="1C2B24">
                <a:alpha val="18000"/>
              </a:srgbClr>
            </a:outerShdw>
          </a:effectLst>
        </p:spPr>
      </p:pic>
      <p:sp>
        <p:nvSpPr>
          <p:cNvPr id="8" name="arch frame"/>
          <p:cNvSpPr/>
          <p:nvPr/>
        </p:nvSpPr>
        <p:spPr>
          <a:xfrm>
            <a:off x="548640" y="1417320"/>
            <a:ext cx="11064240" cy="3835603"/>
          </a:xfrm>
          <a:prstGeom prst="rect">
            <a:avLst/>
          </a:prstGeom>
          <a:ln w="9525">
            <a:solidFill>
              <a:srgbClr val="D3DCD5"/>
            </a:solidFill>
            <a:prstDash val="solid"/>
          </a:ln>
        </p:spPr>
      </p:sp>
      <p:sp>
        <p:nvSpPr>
          <p:cNvPr id="9" name="Text 6"/>
          <p:cNvSpPr txBox="1"/>
          <p:nvPr/>
        </p:nvSpPr>
        <p:spPr>
          <a:xfrm>
            <a:off x="548640" y="5349240"/>
            <a:ext cx="3474720" cy="1005840"/>
          </a:xfrm>
          <a:prstGeom prst="rect">
            <a:avLst/>
          </a:prstGeom>
          <a:noFill/>
          <a:ln/>
        </p:spPr>
        <p:txBody>
          <a:bodyPr wrap="square" lIns="0" tIns="0" rIns="0" bIns="0" rtlCol="0" anchor="t"/>
          <a:lstStyle/>
          <a:p>
            <a:pPr indent="0" marL="0">
              <a:buNone/>
            </a:pPr>
            <a:r>
              <a:rPr lang="en-US" sz="1500" b="1" dirty="0">
                <a:solidFill>
                  <a:srgbClr val="1E3B2F"/>
                </a:solidFill>
              </a:rPr>
              <a:t>Plain SQL</a:t>
            </a:r>
            <a:endParaRPr lang="en-US" sz="1500" dirty="0"/>
          </a:p>
          <a:p>
            <a:pPr indent="0" marL="0">
              <a:buNone/>
            </a:pPr>
            <a:r>
              <a:rPr lang="en-US" sz="1500" dirty="0">
                <a:solidFill>
                  <a:srgbClr val="1C2B24"/>
                </a:solidFill>
              </a:rPr>
              <a:t>No ORM. Every query in app.py can be read and explained line by line.</a:t>
            </a:r>
            <a:endParaRPr lang="en-US" sz="1500" dirty="0"/>
          </a:p>
        </p:txBody>
      </p:sp>
      <p:sp>
        <p:nvSpPr>
          <p:cNvPr id="10" name="Text 7"/>
          <p:cNvSpPr txBox="1"/>
          <p:nvPr/>
        </p:nvSpPr>
        <p:spPr>
          <a:xfrm>
            <a:off x="4297680" y="5349240"/>
            <a:ext cx="3474720" cy="1005840"/>
          </a:xfrm>
          <a:prstGeom prst="rect">
            <a:avLst/>
          </a:prstGeom>
          <a:noFill/>
          <a:ln/>
        </p:spPr>
        <p:txBody>
          <a:bodyPr wrap="square" lIns="0" tIns="0" rIns="0" bIns="0" rtlCol="0" anchor="t"/>
          <a:lstStyle/>
          <a:p>
            <a:pPr indent="0" marL="0">
              <a:buNone/>
            </a:pPr>
            <a:r>
              <a:rPr lang="en-US" sz="1500" b="1" dirty="0">
                <a:solidFill>
                  <a:srgbClr val="1E3B2F"/>
                </a:solidFill>
              </a:rPr>
              <a:t>Small</a:t>
            </a:r>
            <a:endParaRPr lang="en-US" sz="1500" dirty="0"/>
          </a:p>
          <a:p>
            <a:pPr indent="0" marL="0">
              <a:buNone/>
            </a:pPr>
            <a:r>
              <a:rPr lang="en-US" sz="1500" dirty="0">
                <a:solidFill>
                  <a:srgbClr val="1C2B24"/>
                </a:solidFill>
              </a:rPr>
              <a:t>About 750 lines of Python across app.py, db.py and validation.py.</a:t>
            </a:r>
            <a:endParaRPr lang="en-US" sz="1500" dirty="0"/>
          </a:p>
        </p:txBody>
      </p:sp>
      <p:sp>
        <p:nvSpPr>
          <p:cNvPr id="11" name="Text 8"/>
          <p:cNvSpPr txBox="1"/>
          <p:nvPr/>
        </p:nvSpPr>
        <p:spPr>
          <a:xfrm>
            <a:off x="8046720" y="5349240"/>
            <a:ext cx="3474720" cy="1005840"/>
          </a:xfrm>
          <a:prstGeom prst="rect">
            <a:avLst/>
          </a:prstGeom>
          <a:noFill/>
          <a:ln/>
        </p:spPr>
        <p:txBody>
          <a:bodyPr wrap="square" lIns="0" tIns="0" rIns="0" bIns="0" rtlCol="0" anchor="t"/>
          <a:lstStyle/>
          <a:p>
            <a:pPr indent="0" marL="0">
              <a:buNone/>
            </a:pPr>
            <a:r>
              <a:rPr lang="en-US" sz="1500" b="1" dirty="0">
                <a:solidFill>
                  <a:srgbClr val="1E3B2F"/>
                </a:solidFill>
              </a:rPr>
              <a:t>Same files as the report</a:t>
            </a:r>
            <a:endParaRPr lang="en-US" sz="1500" dirty="0"/>
          </a:p>
          <a:p>
            <a:pPr indent="0" marL="0">
              <a:buNone/>
            </a:pPr>
            <a:r>
              <a:rPr lang="en-US" sz="1500" dirty="0">
                <a:solidFill>
                  <a:srgbClr val="1C2B24"/>
                </a:solidFill>
              </a:rPr>
              <a:t>The SQL queries page reads sql/03_queries.sql directly.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lIns="0" tIns="0" rIns="0" bIns="0" rtlCol="0" anchor="ctr"/>
          <a:lstStyle/>
          <a:p>
            <a:pPr algn="l" indent="0" marL="0">
              <a:buNone/>
            </a:pPr>
            <a:r>
              <a:rPr lang="en-US" sz="3200" b="1" dirty="0">
                <a:solidFill>
                  <a:schemeClr val="tx2"/>
                </a:solidFill>
              </a:rPr>
              <a:t>The interface</a:t>
            </a:r>
            <a:endParaRPr lang="en-US" sz="3200" dirty="0"/>
          </a:p>
        </p:txBody>
      </p:sp>
      <p:sp>
        <p:nvSpPr>
          <p:cNvPr id="3" name="meter digit 0"/>
          <p:cNvSpPr/>
          <p:nvPr/>
        </p:nvSpPr>
        <p:spPr>
          <a:xfrm>
            <a:off x="11091672" y="502920"/>
            <a:ext cx="274320" cy="402336"/>
          </a:xfrm>
          <a:prstGeom prst="roundRect">
            <a:avLst>
              <a:gd name="adj" fmla="val 13333"/>
            </a:avLst>
          </a:prstGeom>
          <a:solidFill>
            <a:srgbClr val="14261E"/>
          </a:solidFill>
          <a:ln w="6350">
            <a:solidFill>
              <a:srgbClr val="000000"/>
            </a:solidFill>
            <a:prstDash val="solid"/>
          </a:ln>
        </p:spPr>
      </p:sp>
      <p:sp>
        <p:nvSpPr>
          <p:cNvPr id="4" name="Text 2"/>
          <p:cNvSpPr txBox="1"/>
          <p:nvPr/>
        </p:nvSpPr>
        <p:spPr>
          <a:xfrm>
            <a:off x="11091672" y="502920"/>
            <a:ext cx="27432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a:t>
            </a:r>
            <a:endParaRPr lang="en-US" sz="1600" dirty="0"/>
          </a:p>
        </p:txBody>
      </p:sp>
      <p:sp>
        <p:nvSpPr>
          <p:cNvPr id="5" name="meter digit 1"/>
          <p:cNvSpPr/>
          <p:nvPr/>
        </p:nvSpPr>
        <p:spPr>
          <a:xfrm>
            <a:off x="11393424" y="502920"/>
            <a:ext cx="274320" cy="402336"/>
          </a:xfrm>
          <a:prstGeom prst="roundRect">
            <a:avLst>
              <a:gd name="adj" fmla="val 13333"/>
            </a:avLst>
          </a:prstGeom>
          <a:solidFill>
            <a:srgbClr val="C8371E"/>
          </a:solidFill>
          <a:ln w="6350">
            <a:solidFill>
              <a:srgbClr val="000000"/>
            </a:solidFill>
            <a:prstDash val="solid"/>
          </a:ln>
        </p:spPr>
      </p:sp>
      <p:sp>
        <p:nvSpPr>
          <p:cNvPr id="6" name="Text 4"/>
          <p:cNvSpPr txBox="1"/>
          <p:nvPr/>
        </p:nvSpPr>
        <p:spPr>
          <a:xfrm>
            <a:off x="11393424" y="502920"/>
            <a:ext cx="27432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pic>
        <p:nvPicPr>
          <p:cNvPr id="7" name="Image 0" descr="dash screenshot">    </p:cNvPr>
          <p:cNvPicPr>
            <a:picLocks noChangeAspect="1"/>
          </p:cNvPicPr>
          <p:nvPr/>
        </p:nvPicPr>
        <p:blipFill>
          <a:blip r:embed="rId1"/>
          <a:stretch>
            <a:fillRect/>
          </a:stretch>
        </p:blipFill>
        <p:spPr>
          <a:xfrm>
            <a:off x="548640" y="1325880"/>
            <a:ext cx="5832987" cy="5166360"/>
          </a:xfrm>
          <a:prstGeom prst="rect">
            <a:avLst/>
          </a:prstGeom>
          <a:effectLst>
            <a:outerShdw sx="100000" sy="100000" kx="0" ky="0" algn="bl" rotWithShape="0" blurRad="101600" dist="25400" dir="5400000">
              <a:srgbClr val="1C2B24">
                <a:alpha val="18000"/>
              </a:srgbClr>
            </a:outerShdw>
          </a:effectLst>
        </p:spPr>
      </p:pic>
      <p:sp>
        <p:nvSpPr>
          <p:cNvPr id="8" name="dash frame"/>
          <p:cNvSpPr/>
          <p:nvPr/>
        </p:nvSpPr>
        <p:spPr>
          <a:xfrm>
            <a:off x="548640" y="1325880"/>
            <a:ext cx="5832987" cy="5166360"/>
          </a:xfrm>
          <a:prstGeom prst="rect">
            <a:avLst/>
          </a:prstGeom>
          <a:ln w="9525">
            <a:solidFill>
              <a:srgbClr val="D3DCD5"/>
            </a:solidFill>
            <a:prstDash val="solid"/>
          </a:ln>
        </p:spPr>
      </p:sp>
      <p:sp>
        <p:nvSpPr>
          <p:cNvPr id="9" name="mini digit 0"/>
          <p:cNvSpPr/>
          <p:nvPr/>
        </p:nvSpPr>
        <p:spPr>
          <a:xfrm>
            <a:off x="7452360" y="1417320"/>
            <a:ext cx="265176" cy="402336"/>
          </a:xfrm>
          <a:prstGeom prst="roundRect">
            <a:avLst>
              <a:gd name="adj" fmla="val 13793"/>
            </a:avLst>
          </a:prstGeom>
          <a:solidFill>
            <a:srgbClr val="14261E"/>
          </a:solidFill>
          <a:ln w="6350">
            <a:solidFill>
              <a:srgbClr val="000000"/>
            </a:solidFill>
            <a:prstDash val="solid"/>
          </a:ln>
        </p:spPr>
      </p:sp>
      <p:sp>
        <p:nvSpPr>
          <p:cNvPr id="10" name="Text 7"/>
          <p:cNvSpPr txBox="1"/>
          <p:nvPr/>
        </p:nvSpPr>
        <p:spPr>
          <a:xfrm>
            <a:off x="7452360" y="1417320"/>
            <a:ext cx="26517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1" name="mini digit 1"/>
          <p:cNvSpPr/>
          <p:nvPr/>
        </p:nvSpPr>
        <p:spPr>
          <a:xfrm>
            <a:off x="7744968" y="1417320"/>
            <a:ext cx="265176" cy="402336"/>
          </a:xfrm>
          <a:prstGeom prst="roundRect">
            <a:avLst>
              <a:gd name="adj" fmla="val 13793"/>
            </a:avLst>
          </a:prstGeom>
          <a:solidFill>
            <a:srgbClr val="C8371E"/>
          </a:solidFill>
          <a:ln w="6350">
            <a:solidFill>
              <a:srgbClr val="000000"/>
            </a:solidFill>
            <a:prstDash val="solid"/>
          </a:ln>
        </p:spPr>
      </p:sp>
      <p:sp>
        <p:nvSpPr>
          <p:cNvPr id="12" name="Text 9"/>
          <p:cNvSpPr txBox="1"/>
          <p:nvPr/>
        </p:nvSpPr>
        <p:spPr>
          <a:xfrm>
            <a:off x="7744968" y="1417320"/>
            <a:ext cx="26517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13" name="Text 10"/>
          <p:cNvSpPr txBox="1"/>
          <p:nvPr/>
        </p:nvSpPr>
        <p:spPr>
          <a:xfrm>
            <a:off x="8229600" y="1371600"/>
            <a:ext cx="3429000" cy="1463040"/>
          </a:xfrm>
          <a:prstGeom prst="rect">
            <a:avLst/>
          </a:prstGeom>
          <a:noFill/>
          <a:ln/>
        </p:spPr>
        <p:txBody>
          <a:bodyPr wrap="square" lIns="0" tIns="0" rIns="0" bIns="0" rtlCol="0" anchor="t"/>
          <a:lstStyle/>
          <a:p>
            <a:pPr indent="0" marL="0">
              <a:buNone/>
            </a:pPr>
            <a:r>
              <a:rPr lang="en-US" sz="1800" b="1" dirty="0">
                <a:solidFill>
                  <a:srgbClr val="1E3B2F"/>
                </a:solidFill>
              </a:rPr>
              <a:t>Meter counter</a:t>
            </a:r>
            <a:endParaRPr lang="en-US" sz="1600" dirty="0"/>
          </a:p>
          <a:p>
            <a:pPr indent="0" marL="0">
              <a:buNone/>
            </a:pPr>
            <a:r>
              <a:rPr lang="en-US" sz="1500" dirty="0">
                <a:solidFill>
                  <a:schemeClr val="tx1"/>
                </a:solidFill>
              </a:rPr>
              <a:t>The campus total is shown like the digits on an electricity meter, tenths in red.</a:t>
            </a:r>
            <a:endParaRPr lang="en-US" sz="1600" dirty="0"/>
          </a:p>
        </p:txBody>
      </p:sp>
      <p:sp>
        <p:nvSpPr>
          <p:cNvPr id="14" name="mini band A"/>
          <p:cNvSpPr/>
          <p:nvPr/>
        </p:nvSpPr>
        <p:spPr>
          <a:xfrm>
            <a:off x="7452360" y="3063240"/>
            <a:ext cx="320040" cy="137160"/>
          </a:xfrm>
          <a:prstGeom prst="homePlate">
            <a:avLst/>
          </a:prstGeom>
          <a:solidFill>
            <a:srgbClr val="00843D"/>
          </a:solidFill>
          <a:ln w="12700">
            <a:solidFill>
              <a:srgbClr val="00843D"/>
            </a:solidFill>
            <a:prstDash val="solid"/>
          </a:ln>
        </p:spPr>
      </p:sp>
      <p:sp>
        <p:nvSpPr>
          <p:cNvPr id="15" name="mini band C"/>
          <p:cNvSpPr/>
          <p:nvPr/>
        </p:nvSpPr>
        <p:spPr>
          <a:xfrm>
            <a:off x="7452360" y="3218688"/>
            <a:ext cx="475488" cy="137160"/>
          </a:xfrm>
          <a:prstGeom prst="homePlate">
            <a:avLst/>
          </a:prstGeom>
          <a:solidFill>
            <a:srgbClr val="B5CF17"/>
          </a:solidFill>
          <a:ln w="12700">
            <a:solidFill>
              <a:srgbClr val="B5CF17"/>
            </a:solidFill>
            <a:prstDash val="solid"/>
          </a:ln>
        </p:spPr>
      </p:sp>
      <p:sp>
        <p:nvSpPr>
          <p:cNvPr id="16" name="mini band F"/>
          <p:cNvSpPr/>
          <p:nvPr/>
        </p:nvSpPr>
        <p:spPr>
          <a:xfrm>
            <a:off x="7452360" y="3374136"/>
            <a:ext cx="630936" cy="137160"/>
          </a:xfrm>
          <a:prstGeom prst="homePlate">
            <a:avLst/>
          </a:prstGeom>
          <a:solidFill>
            <a:srgbClr val="F07022"/>
          </a:solidFill>
          <a:ln w="12700">
            <a:solidFill>
              <a:srgbClr val="F07022"/>
            </a:solidFill>
            <a:prstDash val="solid"/>
          </a:ln>
        </p:spPr>
      </p:sp>
      <p:sp>
        <p:nvSpPr>
          <p:cNvPr id="17" name="Text 14"/>
          <p:cNvSpPr txBox="1"/>
          <p:nvPr/>
        </p:nvSpPr>
        <p:spPr>
          <a:xfrm>
            <a:off x="8229600" y="3017520"/>
            <a:ext cx="3429000" cy="1463040"/>
          </a:xfrm>
          <a:prstGeom prst="rect">
            <a:avLst/>
          </a:prstGeom>
          <a:noFill/>
          <a:ln/>
        </p:spPr>
        <p:txBody>
          <a:bodyPr wrap="square" lIns="0" tIns="0" rIns="0" bIns="0" rtlCol="0" anchor="t"/>
          <a:lstStyle/>
          <a:p>
            <a:pPr indent="0" marL="0">
              <a:buNone/>
            </a:pPr>
            <a:r>
              <a:rPr lang="en-US" sz="1800" b="1" dirty="0">
                <a:solidFill>
                  <a:srgbClr val="1E3B2F"/>
                </a:solidFill>
              </a:rPr>
              <a:t>Building rating, A to G</a:t>
            </a:r>
            <a:endParaRPr lang="en-US" sz="1600" dirty="0"/>
          </a:p>
          <a:p>
            <a:pPr indent="0" marL="0">
              <a:buNone/>
            </a:pPr>
            <a:r>
              <a:rPr lang="en-US" sz="1500" dirty="0">
                <a:solidFill>
                  <a:schemeClr val="tx1"/>
                </a:solidFill>
              </a:rPr>
              <a:t>Banded by kg CO₂e per sq ft, like an appliance energy label. Reads vw_building_carbon_summary.</a:t>
            </a:r>
            <a:endParaRPr lang="en-US" sz="1600" dirty="0"/>
          </a:p>
        </p:txBody>
      </p:sp>
      <p:sp>
        <p:nvSpPr>
          <p:cNvPr id="18" name="scope dot 0"/>
          <p:cNvSpPr/>
          <p:nvPr/>
        </p:nvSpPr>
        <p:spPr>
          <a:xfrm>
            <a:off x="7452360" y="4800600"/>
            <a:ext cx="164592" cy="164592"/>
          </a:xfrm>
          <a:prstGeom prst="roundRect">
            <a:avLst>
              <a:gd name="adj" fmla="val 16667"/>
            </a:avLst>
          </a:prstGeom>
          <a:solidFill>
            <a:srgbClr val="D9822B"/>
          </a:solidFill>
          <a:ln w="12700">
            <a:solidFill>
              <a:srgbClr val="D9822B"/>
            </a:solidFill>
            <a:prstDash val="solid"/>
          </a:ln>
        </p:spPr>
      </p:sp>
      <p:sp>
        <p:nvSpPr>
          <p:cNvPr id="19" name="scope dot 1"/>
          <p:cNvSpPr/>
          <p:nvPr/>
        </p:nvSpPr>
        <p:spPr>
          <a:xfrm>
            <a:off x="7671816" y="4800600"/>
            <a:ext cx="164592" cy="164592"/>
          </a:xfrm>
          <a:prstGeom prst="roundRect">
            <a:avLst>
              <a:gd name="adj" fmla="val 16667"/>
            </a:avLst>
          </a:prstGeom>
          <a:solidFill>
            <a:srgbClr val="3D6E9E"/>
          </a:solidFill>
          <a:ln w="12700">
            <a:solidFill>
              <a:srgbClr val="3D6E9E"/>
            </a:solidFill>
            <a:prstDash val="solid"/>
          </a:ln>
        </p:spPr>
      </p:sp>
      <p:sp>
        <p:nvSpPr>
          <p:cNvPr id="20" name="scope dot 2"/>
          <p:cNvSpPr/>
          <p:nvPr/>
        </p:nvSpPr>
        <p:spPr>
          <a:xfrm>
            <a:off x="7891272" y="4800600"/>
            <a:ext cx="164592" cy="164592"/>
          </a:xfrm>
          <a:prstGeom prst="roundRect">
            <a:avLst>
              <a:gd name="adj" fmla="val 16667"/>
            </a:avLst>
          </a:prstGeom>
          <a:solidFill>
            <a:srgbClr val="8A7FA8"/>
          </a:solidFill>
          <a:ln w="12700">
            <a:solidFill>
              <a:srgbClr val="8A7FA8"/>
            </a:solidFill>
            <a:prstDash val="solid"/>
          </a:ln>
        </p:spPr>
      </p:sp>
      <p:sp>
        <p:nvSpPr>
          <p:cNvPr id="21" name="Text 18"/>
          <p:cNvSpPr txBox="1"/>
          <p:nvPr/>
        </p:nvSpPr>
        <p:spPr>
          <a:xfrm>
            <a:off x="8229600" y="4663440"/>
            <a:ext cx="3429000" cy="1463040"/>
          </a:xfrm>
          <a:prstGeom prst="rect">
            <a:avLst/>
          </a:prstGeom>
          <a:noFill/>
          <a:ln/>
        </p:spPr>
        <p:txBody>
          <a:bodyPr wrap="square" lIns="0" tIns="0" rIns="0" bIns="0" rtlCol="0" anchor="t"/>
          <a:lstStyle/>
          <a:p>
            <a:pPr indent="0" marL="0">
              <a:buNone/>
            </a:pPr>
            <a:r>
              <a:rPr lang="en-US" sz="1800" b="1" dirty="0">
                <a:solidFill>
                  <a:srgbClr val="1E3B2F"/>
                </a:solidFill>
              </a:rPr>
              <a:t>One colour per scope</a:t>
            </a:r>
            <a:endParaRPr lang="en-US" sz="1600" dirty="0"/>
          </a:p>
          <a:p>
            <a:pPr indent="0" marL="0">
              <a:buNone/>
            </a:pPr>
            <a:r>
              <a:rPr lang="en-US" sz="1500" dirty="0">
                <a:solidFill>
                  <a:schemeClr val="tx1"/>
                </a:solidFill>
              </a:rPr>
              <a:t>Scope 1, 2 and 3 keep the same colour on every page.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lIns="0" tIns="0" rIns="0" bIns="0" rtlCol="0" anchor="ctr"/>
          <a:lstStyle/>
          <a:p>
            <a:pPr algn="l" indent="0" marL="0">
              <a:buNone/>
            </a:pPr>
            <a:r>
              <a:rPr lang="en-US" sz="3200" b="1" dirty="0">
                <a:solidFill>
                  <a:schemeClr val="tx2"/>
                </a:solidFill>
              </a:rPr>
              <a:t>Connecting to MySQL</a:t>
            </a:r>
            <a:endParaRPr lang="en-US" sz="3200" dirty="0"/>
          </a:p>
        </p:txBody>
      </p:sp>
      <p:sp>
        <p:nvSpPr>
          <p:cNvPr id="3" name="meter digit 0"/>
          <p:cNvSpPr/>
          <p:nvPr/>
        </p:nvSpPr>
        <p:spPr>
          <a:xfrm>
            <a:off x="11091672" y="502920"/>
            <a:ext cx="274320" cy="402336"/>
          </a:xfrm>
          <a:prstGeom prst="roundRect">
            <a:avLst>
              <a:gd name="adj" fmla="val 13333"/>
            </a:avLst>
          </a:prstGeom>
          <a:solidFill>
            <a:srgbClr val="14261E"/>
          </a:solidFill>
          <a:ln w="6350">
            <a:solidFill>
              <a:srgbClr val="000000"/>
            </a:solidFill>
            <a:prstDash val="solid"/>
          </a:ln>
        </p:spPr>
      </p:sp>
      <p:sp>
        <p:nvSpPr>
          <p:cNvPr id="4" name="Text 2"/>
          <p:cNvSpPr txBox="1"/>
          <p:nvPr/>
        </p:nvSpPr>
        <p:spPr>
          <a:xfrm>
            <a:off x="11091672" y="502920"/>
            <a:ext cx="27432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a:t>
            </a:r>
            <a:endParaRPr lang="en-US" sz="1600" dirty="0"/>
          </a:p>
        </p:txBody>
      </p:sp>
      <p:sp>
        <p:nvSpPr>
          <p:cNvPr id="5" name="meter digit 1"/>
          <p:cNvSpPr/>
          <p:nvPr/>
        </p:nvSpPr>
        <p:spPr>
          <a:xfrm>
            <a:off x="11393424" y="502920"/>
            <a:ext cx="274320" cy="402336"/>
          </a:xfrm>
          <a:prstGeom prst="roundRect">
            <a:avLst>
              <a:gd name="adj" fmla="val 13333"/>
            </a:avLst>
          </a:prstGeom>
          <a:solidFill>
            <a:srgbClr val="C8371E"/>
          </a:solidFill>
          <a:ln w="6350">
            <a:solidFill>
              <a:srgbClr val="000000"/>
            </a:solidFill>
            <a:prstDash val="solid"/>
          </a:ln>
        </p:spPr>
      </p:sp>
      <p:sp>
        <p:nvSpPr>
          <p:cNvPr id="6" name="Text 4"/>
          <p:cNvSpPr txBox="1"/>
          <p:nvPr/>
        </p:nvSpPr>
        <p:spPr>
          <a:xfrm>
            <a:off x="11393424" y="502920"/>
            <a:ext cx="27432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7" name="code panel"/>
          <p:cNvSpPr/>
          <p:nvPr/>
        </p:nvSpPr>
        <p:spPr>
          <a:xfrm>
            <a:off x="548640" y="1417320"/>
            <a:ext cx="6035040" cy="3291840"/>
          </a:xfrm>
          <a:prstGeom prst="roundRect">
            <a:avLst>
              <a:gd name="adj" fmla="val 2778"/>
            </a:avLst>
          </a:prstGeom>
          <a:solidFill>
            <a:srgbClr val="14261E"/>
          </a:solidFill>
          <a:ln w="12700">
            <a:solidFill>
              <a:srgbClr val="14261E"/>
            </a:solidFill>
            <a:prstDash val="solid"/>
          </a:ln>
        </p:spPr>
      </p:sp>
      <p:sp>
        <p:nvSpPr>
          <p:cNvPr id="8" name="Text 6"/>
          <p:cNvSpPr txBox="1"/>
          <p:nvPr/>
        </p:nvSpPr>
        <p:spPr>
          <a:xfrm>
            <a:off x="822960" y="1645920"/>
            <a:ext cx="5577840" cy="3291840"/>
          </a:xfrm>
          <a:prstGeom prst="rect">
            <a:avLst/>
          </a:prstGeom>
          <a:noFill/>
          <a:ln/>
        </p:spPr>
        <p:txBody>
          <a:bodyPr wrap="square" lIns="0" tIns="0" rIns="0" bIns="0" rtlCol="0" anchor="t"/>
          <a:lstStyle/>
          <a:p>
            <a:pPr indent="0" marL="0">
              <a:buNone/>
            </a:pPr>
            <a:r>
              <a:rPr lang="en-US" sz="1500" dirty="0">
                <a:solidFill>
                  <a:srgbClr val="8FA699"/>
                </a:solidFill>
                <a:latin typeface="Courier New" pitchFamily="34" charset="0"/>
                <a:ea typeface="Courier New" pitchFamily="34" charset="-122"/>
                <a:cs typeface="Courier New" pitchFamily="34" charset="-120"/>
              </a:rPr>
              <a:t># db.py: five connections, reused</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pool = MySQLConnectionPool(</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    pool_size=5, host=..., user=...,</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    database="green_campus_db")</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8FA699"/>
                </a:solidFill>
                <a:latin typeface="Courier New" pitchFamily="34" charset="0"/>
                <a:ea typeface="Courier New" pitchFamily="34" charset="-122"/>
                <a:cs typeface="Courier New" pitchFamily="34" charset="-120"/>
              </a:rPr>
              <a:t># app.py: values go separately</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INSERT INTO energy_readings</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  (reading_id, meter_id, reading_date,</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   consumption_value, cost_incurred)</a:t>
            </a:r>
            <a:endParaRPr lang="en-US" sz="1500" dirty="0"/>
          </a:p>
          <a:p>
            <a:pPr indent="0" marL="0">
              <a:buNone/>
            </a:pPr>
            <a:r>
              <a:rPr lang="en-US" sz="1500" dirty="0">
                <a:solidFill>
                  <a:srgbClr val="F2C230"/>
                </a:solidFill>
                <a:latin typeface="Courier New" pitchFamily="34" charset="0"/>
                <a:ea typeface="Courier New" pitchFamily="34" charset="-122"/>
                <a:cs typeface="Courier New" pitchFamily="34" charset="-120"/>
              </a:rPr>
              <a:t>VALUES (%s, %s, %s, %s, %s)</a:t>
            </a:r>
            <a:endParaRPr lang="en-US" sz="1500" dirty="0"/>
          </a:p>
        </p:txBody>
      </p:sp>
      <p:sp>
        <p:nvSpPr>
          <p:cNvPr id="9" name="Text 7"/>
          <p:cNvSpPr txBox="1"/>
          <p:nvPr/>
        </p:nvSpPr>
        <p:spPr>
          <a:xfrm>
            <a:off x="6949440" y="1417320"/>
            <a:ext cx="4709160" cy="2377440"/>
          </a:xfrm>
          <a:prstGeom prst="rect">
            <a:avLst/>
          </a:prstGeom>
          <a:noFill/>
          <a:ln/>
        </p:spPr>
        <p:txBody>
          <a:bodyPr wrap="square" lIns="0" tIns="0" rIns="0" bIns="0" rtlCol="0" anchor="t"/>
          <a:lstStyle/>
          <a:p>
            <a:pPr indent="0" marL="0">
              <a:buNone/>
            </a:pPr>
            <a:r>
              <a:rPr lang="en-US" sz="1600" b="1" dirty="0">
                <a:solidFill>
                  <a:srgbClr val="1E3B2F"/>
                </a:solidFill>
              </a:rPr>
              <a:t>Login details live in config.py</a:t>
            </a:r>
            <a:endParaRPr lang="en-US" sz="1600" dirty="0"/>
          </a:p>
          <a:p>
            <a:pPr indent="0" marL="0">
              <a:buNone/>
            </a:pPr>
            <a:r>
              <a:rPr lang="en-US" sz="1600" dirty="0">
                <a:solidFill>
                  <a:schemeClr val="tx1"/>
                </a:solidFill>
              </a:rPr>
              <a:t>Or in environment variables, so nobody's password is in the code.</a:t>
            </a:r>
            <a:endParaRPr lang="en-US" sz="1600" dirty="0"/>
          </a:p>
          <a:p>
            <a:pPr indent="0" marL="0">
              <a:buNone/>
            </a:pPr>
            <a:r>
              <a:rPr lang="en-US" sz="800" dirty="0">
                <a:solidFill>
                  <a:schemeClr val="tx1"/>
                </a:solidFill>
              </a:rPr>
              <a:t> </a:t>
            </a:r>
            <a:endParaRPr lang="en-US" sz="1600" dirty="0"/>
          </a:p>
          <a:p>
            <a:pPr indent="0" marL="0">
              <a:buNone/>
            </a:pPr>
            <a:r>
              <a:rPr lang="en-US" sz="1600" b="1" dirty="0">
                <a:solidFill>
                  <a:srgbClr val="1E3B2F"/>
                </a:solidFill>
              </a:rPr>
              <a:t>Every form value is a %s parameter</a:t>
            </a:r>
            <a:endParaRPr lang="en-US" sz="1600" dirty="0"/>
          </a:p>
          <a:p>
            <a:pPr indent="0" marL="0">
              <a:buNone/>
            </a:pPr>
            <a:r>
              <a:rPr lang="en-US" sz="1600" dirty="0">
                <a:solidFill>
                  <a:schemeClr val="tx1"/>
                </a:solidFill>
              </a:rPr>
              <a:t>MySQL gets the value apart from the SQL, so typing ' OR 1=1 -- into a field can't change the query.</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949440" y="3886200"/>
          <a:ext cx="4709160" cy="914400"/>
        </p:xfrm>
        <a:graphic>
          <a:graphicData uri="http://schemas.openxmlformats.org/drawingml/2006/table">
            <a:tbl>
              <a:tblPr/>
              <a:tblGrid>
                <a:gridCol w="1920240"/>
                <a:gridCol w="2788920"/>
              </a:tblGrid>
              <a:tr h="32918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MySQL error</a:t>
                      </a:r>
                      <a:endParaRPr lang="en-US" sz="13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2B51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the user reads</a:t>
                      </a:r>
                      <a:endParaRPr lang="en-US" sz="13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2B5141"/>
                    </a:solidFill>
                  </a:tcPr>
                </a:tc>
              </a:tr>
              <a:tr h="329184">
                <a:tc>
                  <a:txBody>
                    <a:bodyPr/>
                    <a:lstStyle/>
                    <a:p>
                      <a:pPr indent="0" marL="0">
                        <a:buNone/>
                      </a:pPr>
                      <a:r>
                        <a:rPr lang="en-US" sz="1300" dirty="0">
                          <a:solidFill>
                            <a:srgbClr val="1C2B24"/>
                          </a:solidFill>
                          <a:latin typeface="Calibri" pitchFamily="34" charset="0"/>
                          <a:ea typeface="Calibri" pitchFamily="34" charset="-122"/>
                          <a:cs typeface="Calibri" pitchFamily="34" charset="-120"/>
                        </a:rPr>
                        <a:t>1062  duplicate entry</a:t>
                      </a:r>
                      <a:endParaRPr lang="en-US" sz="13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tcPr>
                </a:tc>
                <a:tc>
                  <a:txBody>
                    <a:bodyPr/>
                    <a:lstStyle/>
                    <a:p>
                      <a:pPr indent="0" marL="0">
                        <a:buNone/>
                      </a:pPr>
                      <a:r>
                        <a:rPr lang="en-US" sz="1300" dirty="0">
                          <a:solidFill>
                            <a:srgbClr val="1C2B24"/>
                          </a:solidFill>
                          <a:latin typeface="Calibri" pitchFamily="34" charset="0"/>
                          <a:ea typeface="Calibri" pitchFamily="34" charset="-122"/>
                          <a:cs typeface="Calibri" pitchFamily="34" charset="-120"/>
                        </a:rPr>
                        <a:t>'ELEC-MAB-01' is already in use</a:t>
                      </a:r>
                      <a:endParaRPr lang="en-US" sz="13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tcPr>
                </a:tc>
              </a:tr>
              <a:tr h="329184">
                <a:tc>
                  <a:txBody>
                    <a:bodyPr/>
                    <a:lstStyle/>
                    <a:p>
                      <a:pPr indent="0" marL="0">
                        <a:buNone/>
                      </a:pPr>
                      <a:r>
                        <a:rPr lang="en-US" sz="1300" dirty="0">
                          <a:solidFill>
                            <a:srgbClr val="1C2B24"/>
                          </a:solidFill>
                          <a:latin typeface="Calibri" pitchFamily="34" charset="0"/>
                          <a:ea typeface="Calibri" pitchFamily="34" charset="-122"/>
                          <a:cs typeface="Calibri" pitchFamily="34" charset="-120"/>
                        </a:rPr>
                        <a:t>1451  parent still used</a:t>
                      </a:r>
                      <a:endParaRPr lang="en-US" sz="13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tcPr>
                </a:tc>
                <a:tc>
                  <a:txBody>
                    <a:bodyPr/>
                    <a:lstStyle/>
                    <a:p>
                      <a:pPr indent="0" marL="0">
                        <a:buNone/>
                      </a:pPr>
                      <a:r>
                        <a:rPr lang="en-US" sz="1300" dirty="0">
                          <a:solidFill>
                            <a:srgbClr val="1C2B24"/>
                          </a:solidFill>
                          <a:latin typeface="Calibri" pitchFamily="34" charset="0"/>
                          <a:ea typeface="Calibri" pitchFamily="34" charset="-122"/>
                          <a:cs typeface="Calibri" pitchFamily="34" charset="-120"/>
                        </a:rPr>
                        <a:t>other records still point to it</a:t>
                      </a:r>
                      <a:endParaRPr lang="en-US" sz="13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tcPr>
                </a:tc>
              </a:tr>
              <a:tr h="329184">
                <a:tc>
                  <a:txBody>
                    <a:bodyPr/>
                    <a:lstStyle/>
                    <a:p>
                      <a:pPr indent="0" marL="0">
                        <a:buNone/>
                      </a:pPr>
                      <a:r>
                        <a:rPr lang="en-US" sz="1300" dirty="0">
                          <a:solidFill>
                            <a:srgbClr val="1C2B24"/>
                          </a:solidFill>
                          <a:latin typeface="Calibri" pitchFamily="34" charset="0"/>
                          <a:ea typeface="Calibri" pitchFamily="34" charset="-122"/>
                          <a:cs typeface="Calibri" pitchFamily="34" charset="-120"/>
                        </a:rPr>
                        <a:t>1452  parent missing</a:t>
                      </a:r>
                      <a:endParaRPr lang="en-US" sz="13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tcPr>
                </a:tc>
                <a:tc>
                  <a:txBody>
                    <a:bodyPr/>
                    <a:lstStyle/>
                    <a:p>
                      <a:pPr indent="0" marL="0">
                        <a:buNone/>
                      </a:pPr>
                      <a:r>
                        <a:rPr lang="en-US" sz="1300" dirty="0">
                          <a:solidFill>
                            <a:srgbClr val="1C2B24"/>
                          </a:solidFill>
                          <a:latin typeface="Calibri" pitchFamily="34" charset="0"/>
                          <a:ea typeface="Calibri" pitchFamily="34" charset="-122"/>
                          <a:cs typeface="Calibri" pitchFamily="34" charset="-120"/>
                        </a:rPr>
                        <a:t>the record you linked to doesn't exist</a:t>
                      </a:r>
                      <a:endParaRPr lang="en-US" sz="13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tcPr>
                </a:tc>
              </a:tr>
              <a:tr h="329184">
                <a:tc>
                  <a:txBody>
                    <a:bodyPr/>
                    <a:lstStyle/>
                    <a:p>
                      <a:pPr indent="0" marL="0">
                        <a:buNone/>
                      </a:pPr>
                      <a:r>
                        <a:rPr lang="en-US" sz="1300" dirty="0">
                          <a:solidFill>
                            <a:srgbClr val="1C2B24"/>
                          </a:solidFill>
                          <a:latin typeface="Calibri" pitchFamily="34" charset="0"/>
                          <a:ea typeface="Calibri" pitchFamily="34" charset="-122"/>
                          <a:cs typeface="Calibri" pitchFamily="34" charset="-120"/>
                        </a:rPr>
                        <a:t>3819  CHECK failed</a:t>
                      </a:r>
                      <a:endParaRPr lang="en-US" sz="13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tcPr>
                </a:tc>
                <a:tc>
                  <a:txBody>
                    <a:bodyPr/>
                    <a:lstStyle/>
                    <a:p>
                      <a:pPr indent="0" marL="0">
                        <a:buNone/>
                      </a:pPr>
                      <a:r>
                        <a:rPr lang="en-US" sz="1300" dirty="0">
                          <a:solidFill>
                            <a:srgbClr val="1C2B24"/>
                          </a:solidFill>
                          <a:latin typeface="Calibri" pitchFamily="34" charset="0"/>
                          <a:ea typeface="Calibri" pitchFamily="34" charset="-122"/>
                          <a:cs typeface="Calibri" pitchFamily="34" charset="-120"/>
                        </a:rPr>
                        <a:t>breaks a CHECK rule</a:t>
                      </a:r>
                      <a:endParaRPr lang="en-US" sz="13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tcPr>
                </a:tc>
              </a:tr>
              <a:tr h="329184">
                <a:tc>
                  <a:txBody>
                    <a:bodyPr/>
                    <a:lstStyle/>
                    <a:p>
                      <a:pPr indent="0" marL="0">
                        <a:buNone/>
                      </a:pPr>
                      <a:r>
                        <a:rPr lang="en-US" sz="1300" dirty="0">
                          <a:solidFill>
                            <a:srgbClr val="1C2B24"/>
                          </a:solidFill>
                          <a:latin typeface="Calibri" pitchFamily="34" charset="0"/>
                          <a:ea typeface="Calibri" pitchFamily="34" charset="-122"/>
                          <a:cs typeface="Calibri" pitchFamily="34" charset="-120"/>
                        </a:rPr>
                        <a:t>1265  bad ENUM</a:t>
                      </a:r>
                      <a:endParaRPr lang="en-US" sz="13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tcPr>
                </a:tc>
                <a:tc>
                  <a:txBody>
                    <a:bodyPr/>
                    <a:lstStyle/>
                    <a:p>
                      <a:pPr indent="0" marL="0">
                        <a:buNone/>
                      </a:pPr>
                      <a:r>
                        <a:rPr lang="en-US" sz="1300" dirty="0">
                          <a:solidFill>
                            <a:srgbClr val="1C2B24"/>
                          </a:solidFill>
                          <a:latin typeface="Calibri" pitchFamily="34" charset="0"/>
                          <a:ea typeface="Calibri" pitchFamily="34" charset="-122"/>
                          <a:cs typeface="Calibri" pitchFamily="34" charset="-120"/>
                        </a:rPr>
                        <a:t>not one of the allowed options</a:t>
                      </a:r>
                      <a:endParaRPr lang="en-US" sz="13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tcPr>
                </a:tc>
              </a:tr>
            </a:tbl>
          </a:graphicData>
        </a:graphic>
      </p:graphicFrame>
      <p:sp>
        <p:nvSpPr>
          <p:cNvPr id="11" name="Text 8"/>
          <p:cNvSpPr txBox="1"/>
          <p:nvPr/>
        </p:nvSpPr>
        <p:spPr>
          <a:xfrm>
            <a:off x="548640" y="4846320"/>
            <a:ext cx="6035040" cy="274320"/>
          </a:xfrm>
          <a:prstGeom prst="rect">
            <a:avLst/>
          </a:prstGeom>
          <a:noFill/>
          <a:ln/>
        </p:spPr>
        <p:txBody>
          <a:bodyPr wrap="square" lIns="0" tIns="0" rIns="0" bIns="0" rtlCol="0" anchor="t"/>
          <a:lstStyle/>
          <a:p>
            <a:pPr algn="l" indent="0" marL="0">
              <a:buNone/>
            </a:pPr>
            <a:r>
              <a:rPr lang="en-US" sz="1100" i="1" dirty="0">
                <a:solidFill>
                  <a:srgbClr val="5E6F66"/>
                </a:solidFill>
              </a:rPr>
              <a:t>Connection pool and parameterised insert, shortened from db.py and app.py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lIns="0" tIns="0" rIns="0" bIns="0" rtlCol="0" anchor="ctr"/>
          <a:lstStyle/>
          <a:p>
            <a:pPr algn="l" indent="0" marL="0">
              <a:buNone/>
            </a:pPr>
            <a:r>
              <a:rPr lang="en-US" sz="3200" b="1" dirty="0">
                <a:solidFill>
                  <a:schemeClr val="tx2"/>
                </a:solidFill>
              </a:rPr>
              <a:t>Create, read, update, delete on six tables</a:t>
            </a:r>
            <a:endParaRPr lang="en-US" sz="3200" dirty="0"/>
          </a:p>
        </p:txBody>
      </p:sp>
      <p:sp>
        <p:nvSpPr>
          <p:cNvPr id="3" name="meter digit 0"/>
          <p:cNvSpPr/>
          <p:nvPr/>
        </p:nvSpPr>
        <p:spPr>
          <a:xfrm>
            <a:off x="11091672" y="502920"/>
            <a:ext cx="274320" cy="402336"/>
          </a:xfrm>
          <a:prstGeom prst="roundRect">
            <a:avLst>
              <a:gd name="adj" fmla="val 13333"/>
            </a:avLst>
          </a:prstGeom>
          <a:solidFill>
            <a:srgbClr val="14261E"/>
          </a:solidFill>
          <a:ln w="6350">
            <a:solidFill>
              <a:srgbClr val="000000"/>
            </a:solidFill>
            <a:prstDash val="solid"/>
          </a:ln>
        </p:spPr>
      </p:sp>
      <p:sp>
        <p:nvSpPr>
          <p:cNvPr id="4" name="Text 2"/>
          <p:cNvSpPr txBox="1"/>
          <p:nvPr/>
        </p:nvSpPr>
        <p:spPr>
          <a:xfrm>
            <a:off x="11091672" y="502920"/>
            <a:ext cx="27432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a:t>
            </a:r>
            <a:endParaRPr lang="en-US" sz="1600" dirty="0"/>
          </a:p>
        </p:txBody>
      </p:sp>
      <p:sp>
        <p:nvSpPr>
          <p:cNvPr id="5" name="meter digit 1"/>
          <p:cNvSpPr/>
          <p:nvPr/>
        </p:nvSpPr>
        <p:spPr>
          <a:xfrm>
            <a:off x="11393424" y="502920"/>
            <a:ext cx="274320" cy="402336"/>
          </a:xfrm>
          <a:prstGeom prst="roundRect">
            <a:avLst>
              <a:gd name="adj" fmla="val 13333"/>
            </a:avLst>
          </a:prstGeom>
          <a:solidFill>
            <a:srgbClr val="C8371E"/>
          </a:solidFill>
          <a:ln w="6350">
            <a:solidFill>
              <a:srgbClr val="000000"/>
            </a:solidFill>
            <a:prstDash val="solid"/>
          </a:ln>
        </p:spPr>
      </p:sp>
      <p:sp>
        <p:nvSpPr>
          <p:cNvPr id="6" name="Text 4"/>
          <p:cNvSpPr txBox="1"/>
          <p:nvPr/>
        </p:nvSpPr>
        <p:spPr>
          <a:xfrm>
            <a:off x="11393424" y="502920"/>
            <a:ext cx="27432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7</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400800" cy="914400"/>
        </p:xfrm>
        <a:graphic>
          <a:graphicData uri="http://schemas.openxmlformats.org/drawingml/2006/table">
            <a:tbl>
              <a:tblPr/>
              <a:tblGrid>
                <a:gridCol w="2011680"/>
                <a:gridCol w="1005840"/>
                <a:gridCol w="822960"/>
                <a:gridCol w="1188720"/>
                <a:gridCol w="1371600"/>
              </a:tblGrid>
              <a:tr h="457200">
                <a:tc>
                  <a:txBody>
                    <a:bodyPr/>
                    <a:lstStyle/>
                    <a:p>
                      <a:pPr indent="0" marL="0">
                        <a:buNone/>
                      </a:pPr>
                      <a:r>
                        <a:rPr lang="en-US" sz="1400" b="1" dirty="0">
                          <a:solidFill>
                            <a:srgbClr val="FFFFFF"/>
                          </a:solidFill>
                        </a:rPr>
                        <a:t>Table</a:t>
                      </a:r>
                      <a:endParaRPr lang="en-US" sz="1400" dirty="0"/>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1E3B2F"/>
                    </a:solidFill>
                  </a:tcPr>
                </a:tc>
                <a:tc>
                  <a:txBody>
                    <a:bodyPr/>
                    <a:lstStyle/>
                    <a:p>
                      <a:pPr algn="ctr" indent="0" marL="0">
                        <a:buNone/>
                      </a:pPr>
                      <a:r>
                        <a:rPr lang="en-US" sz="1400" b="1" dirty="0">
                          <a:solidFill>
                            <a:srgbClr val="FFFFFF"/>
                          </a:solidFill>
                        </a:rPr>
                        <a:t>Create</a:t>
                      </a:r>
                      <a:endParaRPr lang="en-US" sz="1400" dirty="0"/>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1E3B2F"/>
                    </a:solidFill>
                  </a:tcPr>
                </a:tc>
                <a:tc>
                  <a:txBody>
                    <a:bodyPr/>
                    <a:lstStyle/>
                    <a:p>
                      <a:pPr algn="ctr" indent="0" marL="0">
                        <a:buNone/>
                      </a:pPr>
                      <a:r>
                        <a:rPr lang="en-US" sz="1400" b="1" dirty="0">
                          <a:solidFill>
                            <a:srgbClr val="FFFFFF"/>
                          </a:solidFill>
                        </a:rPr>
                        <a:t>Read</a:t>
                      </a:r>
                      <a:endParaRPr lang="en-US" sz="1400" dirty="0"/>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1E3B2F"/>
                    </a:solidFill>
                  </a:tcPr>
                </a:tc>
                <a:tc>
                  <a:txBody>
                    <a:bodyPr/>
                    <a:lstStyle/>
                    <a:p>
                      <a:pPr algn="ctr" indent="0" marL="0">
                        <a:buNone/>
                      </a:pPr>
                      <a:r>
                        <a:rPr lang="en-US" sz="1400" b="1" dirty="0">
                          <a:solidFill>
                            <a:srgbClr val="FFFFFF"/>
                          </a:solidFill>
                        </a:rPr>
                        <a:t>Update</a:t>
                      </a:r>
                      <a:endParaRPr lang="en-US" sz="1400" dirty="0"/>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1E3B2F"/>
                    </a:solidFill>
                  </a:tcPr>
                </a:tc>
                <a:tc>
                  <a:txBody>
                    <a:bodyPr/>
                    <a:lstStyle/>
                    <a:p>
                      <a:pPr algn="ctr" indent="0" marL="0">
                        <a:buNone/>
                      </a:pPr>
                      <a:r>
                        <a:rPr lang="en-US" sz="1400" b="1" dirty="0">
                          <a:solidFill>
                            <a:srgbClr val="FFFFFF"/>
                          </a:solidFill>
                        </a:rPr>
                        <a:t>Delete</a:t>
                      </a:r>
                      <a:endParaRPr lang="en-US" sz="1400" dirty="0"/>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1E3B2F"/>
                    </a:solidFill>
                  </a:tcPr>
                </a:tc>
              </a:tr>
              <a:tr h="457200">
                <a:tc>
                  <a:txBody>
                    <a:bodyPr/>
                    <a:lstStyle/>
                    <a:p>
                      <a:pPr algn="l" indent="0" marL="0">
                        <a:buNone/>
                      </a:pPr>
                      <a:r>
                        <a:rPr lang="en-US" sz="1300" dirty="0">
                          <a:solidFill>
                            <a:srgbClr val="1C2B24"/>
                          </a:solidFill>
                          <a:latin typeface="Courier New" pitchFamily="34" charset="0"/>
                          <a:ea typeface="Courier New" pitchFamily="34" charset="-122"/>
                          <a:cs typeface="Courier New" pitchFamily="34" charset="-120"/>
                        </a:rPr>
                        <a:t>departments</a:t>
                      </a:r>
                      <a:endParaRPr lang="en-US" sz="1300" dirty="0">
                        <a:latin typeface="Courier New" charset="0"/>
                        <a:ea typeface="Courier New" charset="0"/>
                        <a:cs typeface="Courier New"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C2B2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C2B2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C2B2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C2B24"/>
                          </a:solidFill>
                          <a:latin typeface="Calibri" pitchFamily="34" charset="0"/>
                          <a:ea typeface="Calibri" pitchFamily="34" charset="-122"/>
                          <a:cs typeface="Calibri" pitchFamily="34" charset="-120"/>
                        </a:rPr>
                        <a:t>SET NULL</a:t>
                      </a:r>
                      <a:endParaRPr lang="en-US" sz="14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C2B24"/>
                          </a:solidFill>
                          <a:latin typeface="Courier New" pitchFamily="34" charset="0"/>
                          <a:ea typeface="Courier New" pitchFamily="34" charset="-122"/>
                          <a:cs typeface="Courier New" pitchFamily="34" charset="-120"/>
                        </a:rPr>
                        <a:t>buildings</a:t>
                      </a:r>
                      <a:endParaRPr lang="en-US" sz="1300" dirty="0">
                        <a:latin typeface="Courier New" charset="0"/>
                        <a:ea typeface="Courier New" charset="0"/>
                        <a:cs typeface="Courier New"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C2B2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C2B2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C2B2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C2B24"/>
                          </a:solidFill>
                          <a:latin typeface="Calibri" pitchFamily="34" charset="0"/>
                          <a:ea typeface="Calibri" pitchFamily="34" charset="-122"/>
                          <a:cs typeface="Calibri" pitchFamily="34" charset="-120"/>
                        </a:rPr>
                        <a:t>CASCADE</a:t>
                      </a:r>
                      <a:endParaRPr lang="en-US" sz="14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C2B24"/>
                          </a:solidFill>
                          <a:latin typeface="Courier New" pitchFamily="34" charset="0"/>
                          <a:ea typeface="Courier New" pitchFamily="34" charset="-122"/>
                          <a:cs typeface="Courier New" pitchFamily="34" charset="-120"/>
                        </a:rPr>
                        <a:t>emission_factors</a:t>
                      </a:r>
                      <a:endParaRPr lang="en-US" sz="1300" dirty="0">
                        <a:latin typeface="Courier New" charset="0"/>
                        <a:ea typeface="Courier New" charset="0"/>
                        <a:cs typeface="Courier New"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C2B2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C2B2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C2B2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C8371E"/>
                          </a:solidFill>
                          <a:latin typeface="Calibri" pitchFamily="34" charset="0"/>
                          <a:ea typeface="Calibri" pitchFamily="34" charset="-122"/>
                          <a:cs typeface="Calibri" pitchFamily="34" charset="-120"/>
                        </a:rPr>
                        <a:t>RESTRICT</a:t>
                      </a:r>
                      <a:endParaRPr lang="en-US" sz="14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C2B24"/>
                          </a:solidFill>
                          <a:latin typeface="Courier New" pitchFamily="34" charset="0"/>
                          <a:ea typeface="Courier New" pitchFamily="34" charset="-122"/>
                          <a:cs typeface="Courier New" pitchFamily="34" charset="-120"/>
                        </a:rPr>
                        <a:t>meters</a:t>
                      </a:r>
                      <a:endParaRPr lang="en-US" sz="1300" dirty="0">
                        <a:latin typeface="Courier New" charset="0"/>
                        <a:ea typeface="Courier New" charset="0"/>
                        <a:cs typeface="Courier New"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C2B2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C2B2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C2B2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C2B24"/>
                          </a:solidFill>
                          <a:latin typeface="Calibri" pitchFamily="34" charset="0"/>
                          <a:ea typeface="Calibri" pitchFamily="34" charset="-122"/>
                          <a:cs typeface="Calibri" pitchFamily="34" charset="-120"/>
                        </a:rPr>
                        <a:t>CASCADE</a:t>
                      </a:r>
                      <a:endParaRPr lang="en-US" sz="14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C2B24"/>
                          </a:solidFill>
                          <a:latin typeface="Courier New" pitchFamily="34" charset="0"/>
                          <a:ea typeface="Courier New" pitchFamily="34" charset="-122"/>
                          <a:cs typeface="Courier New" pitchFamily="34" charset="-120"/>
                        </a:rPr>
                        <a:t>energy_readings</a:t>
                      </a:r>
                      <a:endParaRPr lang="en-US" sz="1300" dirty="0">
                        <a:latin typeface="Courier New" charset="0"/>
                        <a:ea typeface="Courier New" charset="0"/>
                        <a:cs typeface="Courier New"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C2B24"/>
                          </a:solidFill>
                          <a:latin typeface="Calibri" pitchFamily="34" charset="0"/>
                          <a:ea typeface="Calibri" pitchFamily="34" charset="-122"/>
                          <a:cs typeface="Calibri" pitchFamily="34" charset="-120"/>
                        </a:rPr>
                        <a:t>trigger</a:t>
                      </a:r>
                      <a:endParaRPr lang="en-US" sz="14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C2B2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C2B24"/>
                          </a:solidFill>
                          <a:latin typeface="Calibri" pitchFamily="34" charset="0"/>
                          <a:ea typeface="Calibri" pitchFamily="34" charset="-122"/>
                          <a:cs typeface="Calibri" pitchFamily="34" charset="-120"/>
                        </a:rPr>
                        <a:t>trigger</a:t>
                      </a:r>
                      <a:endParaRPr lang="en-US" sz="14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C2B24"/>
                          </a:solidFill>
                          <a:latin typeface="Calibri" pitchFamily="34" charset="0"/>
                          <a:ea typeface="Calibri" pitchFamily="34" charset="-122"/>
                          <a:cs typeface="Calibri" pitchFamily="34" charset="-120"/>
                        </a:rPr>
                        <a:t>CASCADE</a:t>
                      </a:r>
                      <a:endParaRPr lang="en-US" sz="14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C2B24"/>
                          </a:solidFill>
                          <a:latin typeface="Courier New" pitchFamily="34" charset="0"/>
                          <a:ea typeface="Courier New" pitchFamily="34" charset="-122"/>
                          <a:cs typeface="Courier New" pitchFamily="34" charset="-120"/>
                        </a:rPr>
                        <a:t>audit_initiatives</a:t>
                      </a:r>
                      <a:endParaRPr lang="en-US" sz="1300" dirty="0">
                        <a:latin typeface="Courier New" charset="0"/>
                        <a:ea typeface="Courier New" charset="0"/>
                        <a:cs typeface="Courier New"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C2B2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C2B2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C2B2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C2B2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C2B24"/>
                          </a:solidFill>
                          <a:latin typeface="Courier New" pitchFamily="34" charset="0"/>
                          <a:ea typeface="Courier New" pitchFamily="34" charset="-122"/>
                          <a:cs typeface="Courier New" pitchFamily="34" charset="-120"/>
                        </a:rPr>
                        <a:t>carbon_logs</a:t>
                      </a:r>
                      <a:endParaRPr lang="en-US" sz="1300" dirty="0">
                        <a:latin typeface="Courier New" charset="0"/>
                        <a:ea typeface="Courier New" charset="0"/>
                        <a:cs typeface="Courier New"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EDF1EC"/>
                    </a:solidFill>
                  </a:tcPr>
                </a:tc>
                <a:tc>
                  <a:txBody>
                    <a:bodyPr/>
                    <a:lstStyle/>
                    <a:p>
                      <a:pPr algn="ctr" indent="0" marL="0">
                        <a:buNone/>
                      </a:pPr>
                      <a:r>
                        <a:rPr lang="en-US" sz="1400" dirty="0">
                          <a:solidFill>
                            <a:srgbClr val="1C2B24"/>
                          </a:solidFill>
                          <a:latin typeface="Calibri" pitchFamily="34" charset="0"/>
                          <a:ea typeface="Calibri" pitchFamily="34" charset="-122"/>
                          <a:cs typeface="Calibri" pitchFamily="34" charset="-120"/>
                        </a:rPr>
                        <a:t>trigger only</a:t>
                      </a:r>
                      <a:endParaRPr lang="en-US" sz="14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EDF1EC"/>
                    </a:solidFill>
                  </a:tcPr>
                </a:tc>
                <a:tc>
                  <a:txBody>
                    <a:bodyPr/>
                    <a:lstStyle/>
                    <a:p>
                      <a:pPr algn="ctr" indent="0" marL="0">
                        <a:buNone/>
                      </a:pPr>
                      <a:r>
                        <a:rPr lang="en-US" sz="1400" dirty="0">
                          <a:solidFill>
                            <a:srgbClr val="1C2B2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EDF1EC"/>
                    </a:solidFill>
                  </a:tcPr>
                </a:tc>
                <a:tc>
                  <a:txBody>
                    <a:bodyPr/>
                    <a:lstStyle/>
                    <a:p>
                      <a:pPr algn="ctr" indent="0" marL="0">
                        <a:buNone/>
                      </a:pPr>
                      <a:r>
                        <a:rPr lang="en-US" sz="1400" dirty="0">
                          <a:solidFill>
                            <a:srgbClr val="1C2B24"/>
                          </a:solidFill>
                          <a:latin typeface="Calibri" pitchFamily="34" charset="0"/>
                          <a:ea typeface="Calibri" pitchFamily="34" charset="-122"/>
                          <a:cs typeface="Calibri" pitchFamily="34" charset="-120"/>
                        </a:rPr>
                        <a:t>trigger only</a:t>
                      </a:r>
                      <a:endParaRPr lang="en-US" sz="14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EDF1EC"/>
                    </a:solidFill>
                  </a:tcPr>
                </a:tc>
                <a:tc>
                  <a:txBody>
                    <a:bodyPr/>
                    <a:lstStyle/>
                    <a:p>
                      <a:pPr algn="ctr" indent="0" marL="0">
                        <a:buNone/>
                      </a:pPr>
                      <a:r>
                        <a:rPr lang="en-US" sz="1400" dirty="0">
                          <a:solidFill>
                            <a:srgbClr val="1C2B24"/>
                          </a:solidFill>
                          <a:latin typeface="Calibri" pitchFamily="34" charset="0"/>
                          <a:ea typeface="Calibri" pitchFamily="34" charset="-122"/>
                          <a:cs typeface="Calibri" pitchFamily="34" charset="-120"/>
                        </a:rPr>
                        <a:t>via cascade</a:t>
                      </a:r>
                      <a:endParaRPr lang="en-US" sz="1400" dirty="0">
                        <a:latin typeface="Calibri" charset="0"/>
                        <a:ea typeface="Calibri" charset="0"/>
                        <a:cs typeface="Calibri" charset="0"/>
                      </a:endParaRPr>
                    </a:p>
                  </a:txBody>
                  <a:tcPr marL="91440" marR="91440" marT="45720" marB="45720">
                    <a:lnL w="9525" cap="flat" cmpd="sng" algn="ctr">
                      <a:solidFill>
                        <a:srgbClr val="D3DCD5"/>
                      </a:solidFill>
                      <a:prstDash val="solid"/>
                      <a:round/>
                      <a:headEnd type="none" w="med" len="med"/>
                      <a:tailEnd type="none" w="med" len="med"/>
                    </a:lnL>
                    <a:lnR w="9525" cap="flat" cmpd="sng" algn="ctr">
                      <a:solidFill>
                        <a:srgbClr val="D3DCD5"/>
                      </a:solidFill>
                      <a:prstDash val="solid"/>
                      <a:round/>
                      <a:headEnd type="none" w="med" len="med"/>
                      <a:tailEnd type="none" w="med" len="med"/>
                    </a:lnR>
                    <a:lnT w="9525" cap="flat" cmpd="sng" algn="ctr">
                      <a:solidFill>
                        <a:srgbClr val="D3DCD5"/>
                      </a:solidFill>
                      <a:prstDash val="solid"/>
                      <a:round/>
                      <a:headEnd type="none" w="med" len="med"/>
                      <a:tailEnd type="none" w="med" len="med"/>
                    </a:lnT>
                    <a:lnB w="9525" cap="flat" cmpd="sng" algn="ctr">
                      <a:solidFill>
                        <a:srgbClr val="D3DCD5"/>
                      </a:solidFill>
                      <a:prstDash val="solid"/>
                      <a:round/>
                      <a:headEnd type="none" w="med" len="med"/>
                      <a:tailEnd type="none" w="med" len="med"/>
                    </a:lnB>
                    <a:solidFill>
                      <a:srgbClr val="EDF1EC"/>
                    </a:solidFill>
                  </a:tcPr>
                </a:tc>
              </a:tr>
            </a:tbl>
          </a:graphicData>
        </a:graphic>
      </p:graphicFrame>
      <p:sp>
        <p:nvSpPr>
          <p:cNvPr id="8" name="Text 5"/>
          <p:cNvSpPr txBox="1"/>
          <p:nvPr/>
        </p:nvSpPr>
        <p:spPr>
          <a:xfrm>
            <a:off x="548640" y="5257800"/>
            <a:ext cx="6400800" cy="548640"/>
          </a:xfrm>
          <a:prstGeom prst="rect">
            <a:avLst/>
          </a:prstGeom>
          <a:noFill/>
          <a:ln/>
        </p:spPr>
        <p:txBody>
          <a:bodyPr wrap="square" lIns="0" tIns="0" rIns="0" bIns="0" rtlCol="0" anchor="t"/>
          <a:lstStyle/>
          <a:p>
            <a:pPr indent="0" marL="0">
              <a:buNone/>
            </a:pPr>
            <a:r>
              <a:rPr lang="en-US" sz="1500" dirty="0">
                <a:solidFill>
                  <a:srgbClr val="5E6F66"/>
                </a:solidFill>
              </a:rPr>
              <a:t>carbon_logs is never edited by hand. Only the two triggers write to it.</a:t>
            </a:r>
            <a:endParaRPr lang="en-US" sz="1500" dirty="0"/>
          </a:p>
        </p:txBody>
      </p:sp>
      <p:pic>
        <p:nvPicPr>
          <p:cNvPr id="9" name="Image 0" descr="del screenshot">    </p:cNvPr>
          <p:cNvPicPr>
            <a:picLocks noChangeAspect="1"/>
          </p:cNvPicPr>
          <p:nvPr/>
        </p:nvPicPr>
        <p:blipFill>
          <a:blip r:embed="rId1"/>
          <a:stretch>
            <a:fillRect/>
          </a:stretch>
        </p:blipFill>
        <p:spPr>
          <a:xfrm>
            <a:off x="7406640" y="1463040"/>
            <a:ext cx="4251960" cy="3158599"/>
          </a:xfrm>
          <a:prstGeom prst="rect">
            <a:avLst/>
          </a:prstGeom>
          <a:effectLst>
            <a:outerShdw sx="100000" sy="100000" kx="0" ky="0" algn="bl" rotWithShape="0" blurRad="101600" dist="25400" dir="5400000">
              <a:srgbClr val="1C2B24">
                <a:alpha val="18000"/>
              </a:srgbClr>
            </a:outerShdw>
          </a:effectLst>
        </p:spPr>
      </p:pic>
      <p:sp>
        <p:nvSpPr>
          <p:cNvPr id="10" name="del frame"/>
          <p:cNvSpPr/>
          <p:nvPr/>
        </p:nvSpPr>
        <p:spPr>
          <a:xfrm>
            <a:off x="7406640" y="1463040"/>
            <a:ext cx="4251960" cy="3158599"/>
          </a:xfrm>
          <a:prstGeom prst="rect">
            <a:avLst/>
          </a:prstGeom>
          <a:ln w="9525">
            <a:solidFill>
              <a:srgbClr val="D3DCD5"/>
            </a:solidFill>
            <a:prstDash val="solid"/>
          </a:ln>
        </p:spPr>
      </p:sp>
      <p:sp>
        <p:nvSpPr>
          <p:cNvPr id="11" name="Text 7"/>
          <p:cNvSpPr txBox="1"/>
          <p:nvPr/>
        </p:nvSpPr>
        <p:spPr>
          <a:xfrm>
            <a:off x="7406640" y="4709160"/>
            <a:ext cx="4251960" cy="274320"/>
          </a:xfrm>
          <a:prstGeom prst="rect">
            <a:avLst/>
          </a:prstGeom>
          <a:noFill/>
          <a:ln/>
        </p:spPr>
        <p:txBody>
          <a:bodyPr wrap="square" lIns="0" tIns="0" rIns="0" bIns="0" rtlCol="0" anchor="t"/>
          <a:lstStyle/>
          <a:p>
            <a:pPr algn="l" indent="0" marL="0">
              <a:buNone/>
            </a:pPr>
            <a:r>
              <a:rPr lang="en-US" sz="1100" i="1" dirty="0">
                <a:solidFill>
                  <a:srgbClr val="5E6F66"/>
                </a:solidFill>
              </a:rPr>
              <a:t>Before any delete, the app counts what ON DELETE CASCADE will remove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lIns="0" tIns="0" rIns="0" bIns="0" rtlCol="0" anchor="ctr"/>
          <a:lstStyle/>
          <a:p>
            <a:pPr algn="l" indent="0" marL="0">
              <a:buNone/>
            </a:pPr>
            <a:r>
              <a:rPr lang="en-US" sz="3200" b="1" dirty="0">
                <a:solidFill>
                  <a:schemeClr val="tx2"/>
                </a:solidFill>
              </a:rPr>
              <a:t>Saving a reading fires the trigger</a:t>
            </a:r>
            <a:endParaRPr lang="en-US" sz="3200" dirty="0"/>
          </a:p>
        </p:txBody>
      </p:sp>
      <p:sp>
        <p:nvSpPr>
          <p:cNvPr id="3" name="meter digit 0"/>
          <p:cNvSpPr/>
          <p:nvPr/>
        </p:nvSpPr>
        <p:spPr>
          <a:xfrm>
            <a:off x="11091672" y="502920"/>
            <a:ext cx="274320" cy="402336"/>
          </a:xfrm>
          <a:prstGeom prst="roundRect">
            <a:avLst>
              <a:gd name="adj" fmla="val 13333"/>
            </a:avLst>
          </a:prstGeom>
          <a:solidFill>
            <a:srgbClr val="14261E"/>
          </a:solidFill>
          <a:ln w="6350">
            <a:solidFill>
              <a:srgbClr val="000000"/>
            </a:solidFill>
            <a:prstDash val="solid"/>
          </a:ln>
        </p:spPr>
      </p:sp>
      <p:sp>
        <p:nvSpPr>
          <p:cNvPr id="4" name="Text 2"/>
          <p:cNvSpPr txBox="1"/>
          <p:nvPr/>
        </p:nvSpPr>
        <p:spPr>
          <a:xfrm>
            <a:off x="11091672" y="502920"/>
            <a:ext cx="27432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a:t>
            </a:r>
            <a:endParaRPr lang="en-US" sz="1600" dirty="0"/>
          </a:p>
        </p:txBody>
      </p:sp>
      <p:sp>
        <p:nvSpPr>
          <p:cNvPr id="5" name="meter digit 1"/>
          <p:cNvSpPr/>
          <p:nvPr/>
        </p:nvSpPr>
        <p:spPr>
          <a:xfrm>
            <a:off x="11393424" y="502920"/>
            <a:ext cx="274320" cy="402336"/>
          </a:xfrm>
          <a:prstGeom prst="roundRect">
            <a:avLst>
              <a:gd name="adj" fmla="val 13333"/>
            </a:avLst>
          </a:prstGeom>
          <a:solidFill>
            <a:srgbClr val="C8371E"/>
          </a:solidFill>
          <a:ln w="6350">
            <a:solidFill>
              <a:srgbClr val="000000"/>
            </a:solidFill>
            <a:prstDash val="solid"/>
          </a:ln>
        </p:spPr>
      </p:sp>
      <p:sp>
        <p:nvSpPr>
          <p:cNvPr id="6" name="Text 4"/>
          <p:cNvSpPr txBox="1"/>
          <p:nvPr/>
        </p:nvSpPr>
        <p:spPr>
          <a:xfrm>
            <a:off x="11393424" y="502920"/>
            <a:ext cx="27432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8</a:t>
            </a:r>
            <a:endParaRPr lang="en-US" sz="1600" dirty="0"/>
          </a:p>
        </p:txBody>
      </p:sp>
      <p:pic>
        <p:nvPicPr>
          <p:cNvPr id="7" name="Image 0" descr="calc screenshot">    </p:cNvPr>
          <p:cNvPicPr>
            <a:picLocks noChangeAspect="1"/>
          </p:cNvPicPr>
          <p:nvPr/>
        </p:nvPicPr>
        <p:blipFill>
          <a:blip r:embed="rId1"/>
          <a:stretch>
            <a:fillRect/>
          </a:stretch>
        </p:blipFill>
        <p:spPr>
          <a:xfrm>
            <a:off x="548640" y="1371600"/>
            <a:ext cx="6309360" cy="4078778"/>
          </a:xfrm>
          <a:prstGeom prst="rect">
            <a:avLst/>
          </a:prstGeom>
          <a:effectLst>
            <a:outerShdw sx="100000" sy="100000" kx="0" ky="0" algn="bl" rotWithShape="0" blurRad="101600" dist="25400" dir="5400000">
              <a:srgbClr val="1C2B24">
                <a:alpha val="18000"/>
              </a:srgbClr>
            </a:outerShdw>
          </a:effectLst>
        </p:spPr>
      </p:pic>
      <p:sp>
        <p:nvSpPr>
          <p:cNvPr id="8" name="calc frame"/>
          <p:cNvSpPr/>
          <p:nvPr/>
        </p:nvSpPr>
        <p:spPr>
          <a:xfrm>
            <a:off x="548640" y="1371600"/>
            <a:ext cx="6309360" cy="4078778"/>
          </a:xfrm>
          <a:prstGeom prst="rect">
            <a:avLst/>
          </a:prstGeom>
          <a:ln w="9525">
            <a:solidFill>
              <a:srgbClr val="D3DCD5"/>
            </a:solidFill>
            <a:prstDash val="solid"/>
          </a:ln>
        </p:spPr>
      </p:sp>
      <p:sp>
        <p:nvSpPr>
          <p:cNvPr id="9" name="formula"/>
          <p:cNvSpPr/>
          <p:nvPr/>
        </p:nvSpPr>
        <p:spPr>
          <a:xfrm>
            <a:off x="7269480" y="1371600"/>
            <a:ext cx="4389120" cy="1600200"/>
          </a:xfrm>
          <a:prstGeom prst="roundRect">
            <a:avLst>
              <a:gd name="adj" fmla="val 5714"/>
            </a:avLst>
          </a:prstGeom>
          <a:solidFill>
            <a:srgbClr val="1E3B2F"/>
          </a:solidFill>
          <a:ln w="12700">
            <a:solidFill>
              <a:srgbClr val="1E3B2F"/>
            </a:solidFill>
            <a:prstDash val="solid"/>
          </a:ln>
        </p:spPr>
      </p:sp>
      <p:sp>
        <p:nvSpPr>
          <p:cNvPr id="10" name="Text 7"/>
          <p:cNvSpPr txBox="1"/>
          <p:nvPr/>
        </p:nvSpPr>
        <p:spPr>
          <a:xfrm>
            <a:off x="7543800" y="1508760"/>
            <a:ext cx="3931920" cy="1371600"/>
          </a:xfrm>
          <a:prstGeom prst="rect">
            <a:avLst/>
          </a:prstGeom>
          <a:noFill/>
          <a:ln/>
        </p:spPr>
        <p:txBody>
          <a:bodyPr wrap="square" lIns="0" tIns="0" rIns="0" bIns="0" rtlCol="0" anchor="ctr"/>
          <a:lstStyle/>
          <a:p>
            <a:pPr indent="0" marL="0">
              <a:buNone/>
            </a:pPr>
            <a:r>
              <a:rPr lang="en-US" sz="2000" dirty="0">
                <a:solidFill>
                  <a:srgbClr val="C9D6CE"/>
                </a:solidFill>
              </a:rPr>
              <a:t>5,000 kWh × 0.82</a:t>
            </a:r>
            <a:endParaRPr lang="en-US" sz="1600" dirty="0"/>
          </a:p>
          <a:p>
            <a:pPr indent="0" marL="0">
              <a:buNone/>
            </a:pPr>
            <a:r>
              <a:rPr lang="en-US" sz="3400" b="1" dirty="0">
                <a:solidFill>
                  <a:srgbClr val="FFFFFF"/>
                </a:solidFill>
              </a:rPr>
              <a:t>= 4,100 kg CO₂e</a:t>
            </a:r>
            <a:endParaRPr lang="en-US" sz="1600" dirty="0"/>
          </a:p>
        </p:txBody>
      </p:sp>
      <p:sp>
        <p:nvSpPr>
          <p:cNvPr id="11" name="Text 8"/>
          <p:cNvSpPr txBox="1"/>
          <p:nvPr/>
        </p:nvSpPr>
        <p:spPr>
          <a:xfrm>
            <a:off x="7269480" y="3154680"/>
            <a:ext cx="4389120" cy="2286000"/>
          </a:xfrm>
          <a:prstGeom prst="rect">
            <a:avLst/>
          </a:prstGeom>
          <a:noFill/>
          <a:ln/>
        </p:spPr>
        <p:txBody>
          <a:bodyPr wrap="square" lIns="0" tIns="0" rIns="0" bIns="0" rtlCol="0" anchor="t"/>
          <a:lstStyle/>
          <a:p>
            <a:pPr indent="0" marL="0">
              <a:buNone/>
            </a:pPr>
            <a:r>
              <a:rPr lang="en-US" sz="1500" b="1" dirty="0">
                <a:solidFill>
                  <a:srgbClr val="1E3B2F"/>
                </a:solidFill>
              </a:rPr>
              <a:t>AFTER INSERT </a:t>
            </a:r>
            <a:pPr indent="0" marL="0">
              <a:buNone/>
            </a:pPr>
            <a:r>
              <a:rPr lang="en-US" sz="1500" dirty="0">
                <a:solidFill>
                  <a:schemeClr val="tx1"/>
                </a:solidFill>
              </a:rPr>
              <a:t>looks up the meter's emission factor and writes consumption × factor into carbon_logs.</a:t>
            </a:r>
            <a:endParaRPr lang="en-US" sz="1500" dirty="0"/>
          </a:p>
          <a:p>
            <a:pPr indent="0" marL="0">
              <a:buNone/>
            </a:pPr>
            <a:r>
              <a:rPr lang="en-US" sz="800" dirty="0">
                <a:solidFill>
                  <a:schemeClr val="tx1"/>
                </a:solidFill>
              </a:rPr>
              <a:t> </a:t>
            </a:r>
            <a:endParaRPr lang="en-US" sz="1500" dirty="0"/>
          </a:p>
          <a:p>
            <a:pPr indent="0" marL="0">
              <a:buNone/>
            </a:pPr>
            <a:r>
              <a:rPr lang="en-US" sz="1500" b="1" dirty="0">
                <a:solidFill>
                  <a:srgbClr val="1E3B2F"/>
                </a:solidFill>
              </a:rPr>
              <a:t>New: AFTER UPDATE </a:t>
            </a:r>
            <a:pPr indent="0" marL="0">
              <a:buNone/>
            </a:pPr>
            <a:r>
              <a:rPr lang="en-US" sz="1500" dirty="0">
                <a:solidFill>
                  <a:schemeClr val="tx1"/>
                </a:solidFill>
              </a:rPr>
              <a:t>recalculates the log when a reading's value or meter is corrected. Changing a factor leaves old logs alone, they are the audit record.</a:t>
            </a:r>
            <a:endParaRPr lang="en-US" sz="1500" dirty="0"/>
          </a:p>
        </p:txBody>
      </p:sp>
      <p:sp>
        <p:nvSpPr>
          <p:cNvPr id="12" name="Text 9"/>
          <p:cNvSpPr txBox="1"/>
          <p:nvPr/>
        </p:nvSpPr>
        <p:spPr>
          <a:xfrm>
            <a:off x="548640" y="5623560"/>
            <a:ext cx="6309360" cy="274320"/>
          </a:xfrm>
          <a:prstGeom prst="rect">
            <a:avLst/>
          </a:prstGeom>
          <a:noFill/>
          <a:ln/>
        </p:spPr>
        <p:txBody>
          <a:bodyPr wrap="square" lIns="0" tIns="0" rIns="0" bIns="0" rtlCol="0" anchor="t"/>
          <a:lstStyle/>
          <a:p>
            <a:pPr algn="l" indent="0" marL="0">
              <a:buNone/>
            </a:pPr>
            <a:r>
              <a:rPr lang="en-US" sz="1100" i="1" dirty="0">
                <a:solidFill>
                  <a:srgbClr val="5E6F66"/>
                </a:solidFill>
              </a:rPr>
              <a:t>The box on the right of the form estimates the value; the trigger writes the real one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lIns="0" tIns="0" rIns="0" bIns="0" rtlCol="0" anchor="ctr"/>
          <a:lstStyle/>
          <a:p>
            <a:pPr algn="l" indent="0" marL="0">
              <a:buNone/>
            </a:pPr>
            <a:r>
              <a:rPr lang="en-US" sz="3200" b="1" dirty="0">
                <a:solidFill>
                  <a:schemeClr val="tx2"/>
                </a:solidFill>
              </a:rPr>
              <a:t>Search and retrieval</a:t>
            </a:r>
            <a:endParaRPr lang="en-US" sz="3200" dirty="0"/>
          </a:p>
        </p:txBody>
      </p:sp>
      <p:sp>
        <p:nvSpPr>
          <p:cNvPr id="3" name="meter digit 0"/>
          <p:cNvSpPr/>
          <p:nvPr/>
        </p:nvSpPr>
        <p:spPr>
          <a:xfrm>
            <a:off x="11091672" y="502920"/>
            <a:ext cx="274320" cy="402336"/>
          </a:xfrm>
          <a:prstGeom prst="roundRect">
            <a:avLst>
              <a:gd name="adj" fmla="val 13333"/>
            </a:avLst>
          </a:prstGeom>
          <a:solidFill>
            <a:srgbClr val="14261E"/>
          </a:solidFill>
          <a:ln w="6350">
            <a:solidFill>
              <a:srgbClr val="000000"/>
            </a:solidFill>
            <a:prstDash val="solid"/>
          </a:ln>
        </p:spPr>
      </p:sp>
      <p:sp>
        <p:nvSpPr>
          <p:cNvPr id="4" name="Text 2"/>
          <p:cNvSpPr txBox="1"/>
          <p:nvPr/>
        </p:nvSpPr>
        <p:spPr>
          <a:xfrm>
            <a:off x="11091672" y="502920"/>
            <a:ext cx="27432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a:t>
            </a:r>
            <a:endParaRPr lang="en-US" sz="1600" dirty="0"/>
          </a:p>
        </p:txBody>
      </p:sp>
      <p:sp>
        <p:nvSpPr>
          <p:cNvPr id="5" name="meter digit 1"/>
          <p:cNvSpPr/>
          <p:nvPr/>
        </p:nvSpPr>
        <p:spPr>
          <a:xfrm>
            <a:off x="11393424" y="502920"/>
            <a:ext cx="274320" cy="402336"/>
          </a:xfrm>
          <a:prstGeom prst="roundRect">
            <a:avLst>
              <a:gd name="adj" fmla="val 13333"/>
            </a:avLst>
          </a:prstGeom>
          <a:solidFill>
            <a:srgbClr val="C8371E"/>
          </a:solidFill>
          <a:ln w="6350">
            <a:solidFill>
              <a:srgbClr val="000000"/>
            </a:solidFill>
            <a:prstDash val="solid"/>
          </a:ln>
        </p:spPr>
      </p:sp>
      <p:sp>
        <p:nvSpPr>
          <p:cNvPr id="6" name="Text 4"/>
          <p:cNvSpPr txBox="1"/>
          <p:nvPr/>
        </p:nvSpPr>
        <p:spPr>
          <a:xfrm>
            <a:off x="11393424" y="502920"/>
            <a:ext cx="27432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9</a:t>
            </a:r>
            <a:endParaRPr lang="en-US" sz="1600" dirty="0"/>
          </a:p>
        </p:txBody>
      </p:sp>
      <p:pic>
        <p:nvPicPr>
          <p:cNvPr id="7" name="Image 0" descr="search screenshot">    </p:cNvPr>
          <p:cNvPicPr>
            <a:picLocks noChangeAspect="1"/>
          </p:cNvPicPr>
          <p:nvPr/>
        </p:nvPicPr>
        <p:blipFill>
          <a:blip r:embed="rId1"/>
          <a:stretch>
            <a:fillRect/>
          </a:stretch>
        </p:blipFill>
        <p:spPr>
          <a:xfrm>
            <a:off x="548640" y="1371600"/>
            <a:ext cx="6675120" cy="4410347"/>
          </a:xfrm>
          <a:prstGeom prst="rect">
            <a:avLst/>
          </a:prstGeom>
          <a:effectLst>
            <a:outerShdw sx="100000" sy="100000" kx="0" ky="0" algn="bl" rotWithShape="0" blurRad="101600" dist="25400" dir="5400000">
              <a:srgbClr val="1C2B24">
                <a:alpha val="18000"/>
              </a:srgbClr>
            </a:outerShdw>
          </a:effectLst>
        </p:spPr>
      </p:pic>
      <p:sp>
        <p:nvSpPr>
          <p:cNvPr id="8" name="search frame"/>
          <p:cNvSpPr/>
          <p:nvPr/>
        </p:nvSpPr>
        <p:spPr>
          <a:xfrm>
            <a:off x="548640" y="1371600"/>
            <a:ext cx="6675120" cy="4410347"/>
          </a:xfrm>
          <a:prstGeom prst="rect">
            <a:avLst/>
          </a:prstGeom>
          <a:ln w="9525">
            <a:solidFill>
              <a:srgbClr val="D3DCD5"/>
            </a:solidFill>
            <a:prstDash val="solid"/>
          </a:ln>
        </p:spPr>
      </p:sp>
      <p:sp>
        <p:nvSpPr>
          <p:cNvPr id="9" name="Text 6"/>
          <p:cNvSpPr txBox="1"/>
          <p:nvPr/>
        </p:nvSpPr>
        <p:spPr>
          <a:xfrm>
            <a:off x="7635240" y="1371600"/>
            <a:ext cx="4023360" cy="411480"/>
          </a:xfrm>
          <a:prstGeom prst="rect">
            <a:avLst/>
          </a:prstGeom>
          <a:noFill/>
          <a:ln/>
        </p:spPr>
        <p:txBody>
          <a:bodyPr wrap="square" lIns="0" tIns="0" rIns="0" bIns="0" rtlCol="0" anchor="t"/>
          <a:lstStyle/>
          <a:p>
            <a:pPr indent="0" marL="0">
              <a:buNone/>
            </a:pPr>
            <a:r>
              <a:rPr lang="en-US" sz="1800" b="1" dirty="0">
                <a:solidFill>
                  <a:srgbClr val="1E3B2F"/>
                </a:solidFill>
              </a:rPr>
              <a:t>Filters, all optional</a:t>
            </a:r>
            <a:endParaRPr lang="en-US" sz="1800" dirty="0"/>
          </a:p>
        </p:txBody>
      </p:sp>
      <p:sp>
        <p:nvSpPr>
          <p:cNvPr id="10" name="chip Text"/>
          <p:cNvSpPr/>
          <p:nvPr/>
        </p:nvSpPr>
        <p:spPr>
          <a:xfrm>
            <a:off x="7635240" y="1874520"/>
            <a:ext cx="676656" cy="347472"/>
          </a:xfrm>
          <a:prstGeom prst="roundRect">
            <a:avLst>
              <a:gd name="adj" fmla="val 50000"/>
            </a:avLst>
          </a:prstGeom>
          <a:solidFill>
            <a:srgbClr val="EDF1EC"/>
          </a:solidFill>
          <a:ln w="12700">
            <a:solidFill>
              <a:srgbClr val="EDF1EC"/>
            </a:solidFill>
            <a:prstDash val="solid"/>
          </a:ln>
        </p:spPr>
      </p:sp>
      <p:sp>
        <p:nvSpPr>
          <p:cNvPr id="11" name="Text 8"/>
          <p:cNvSpPr txBox="1"/>
          <p:nvPr/>
        </p:nvSpPr>
        <p:spPr>
          <a:xfrm>
            <a:off x="7635240" y="1874520"/>
            <a:ext cx="676656" cy="347472"/>
          </a:xfrm>
          <a:prstGeom prst="rect">
            <a:avLst/>
          </a:prstGeom>
          <a:noFill/>
          <a:ln/>
        </p:spPr>
        <p:txBody>
          <a:bodyPr wrap="square" lIns="0" tIns="0" rIns="0" bIns="0" rtlCol="0" anchor="ctr"/>
          <a:lstStyle/>
          <a:p>
            <a:pPr algn="ctr" indent="0" marL="0">
              <a:buNone/>
            </a:pPr>
            <a:r>
              <a:rPr lang="en-US" sz="1400" b="1" dirty="0">
                <a:solidFill>
                  <a:srgbClr val="1E3B2F"/>
                </a:solidFill>
              </a:rPr>
              <a:t>Text</a:t>
            </a:r>
            <a:endParaRPr lang="en-US" sz="1400" dirty="0"/>
          </a:p>
        </p:txBody>
      </p:sp>
      <p:sp>
        <p:nvSpPr>
          <p:cNvPr id="12" name="chip Building"/>
          <p:cNvSpPr/>
          <p:nvPr/>
        </p:nvSpPr>
        <p:spPr>
          <a:xfrm>
            <a:off x="8421624" y="1874520"/>
            <a:ext cx="1060704" cy="347472"/>
          </a:xfrm>
          <a:prstGeom prst="roundRect">
            <a:avLst>
              <a:gd name="adj" fmla="val 50000"/>
            </a:avLst>
          </a:prstGeom>
          <a:solidFill>
            <a:srgbClr val="EDF1EC"/>
          </a:solidFill>
          <a:ln w="12700">
            <a:solidFill>
              <a:srgbClr val="EDF1EC"/>
            </a:solidFill>
            <a:prstDash val="solid"/>
          </a:ln>
        </p:spPr>
      </p:sp>
      <p:sp>
        <p:nvSpPr>
          <p:cNvPr id="13" name="Text 10"/>
          <p:cNvSpPr txBox="1"/>
          <p:nvPr/>
        </p:nvSpPr>
        <p:spPr>
          <a:xfrm>
            <a:off x="8421624" y="1874520"/>
            <a:ext cx="1060704" cy="347472"/>
          </a:xfrm>
          <a:prstGeom prst="rect">
            <a:avLst/>
          </a:prstGeom>
          <a:noFill/>
          <a:ln/>
        </p:spPr>
        <p:txBody>
          <a:bodyPr wrap="square" lIns="0" tIns="0" rIns="0" bIns="0" rtlCol="0" anchor="ctr"/>
          <a:lstStyle/>
          <a:p>
            <a:pPr algn="ctr" indent="0" marL="0">
              <a:buNone/>
            </a:pPr>
            <a:r>
              <a:rPr lang="en-US" sz="1400" b="1" dirty="0">
                <a:solidFill>
                  <a:srgbClr val="1E3B2F"/>
                </a:solidFill>
              </a:rPr>
              <a:t>Building</a:t>
            </a:r>
            <a:endParaRPr lang="en-US" sz="1400" dirty="0"/>
          </a:p>
        </p:txBody>
      </p:sp>
      <p:sp>
        <p:nvSpPr>
          <p:cNvPr id="14" name="chip Energy source"/>
          <p:cNvSpPr/>
          <p:nvPr/>
        </p:nvSpPr>
        <p:spPr>
          <a:xfrm>
            <a:off x="9592056" y="1874520"/>
            <a:ext cx="1540764" cy="347472"/>
          </a:xfrm>
          <a:prstGeom prst="roundRect">
            <a:avLst>
              <a:gd name="adj" fmla="val 50000"/>
            </a:avLst>
          </a:prstGeom>
          <a:solidFill>
            <a:srgbClr val="EDF1EC"/>
          </a:solidFill>
          <a:ln w="12700">
            <a:solidFill>
              <a:srgbClr val="EDF1EC"/>
            </a:solidFill>
            <a:prstDash val="solid"/>
          </a:ln>
        </p:spPr>
      </p:sp>
      <p:sp>
        <p:nvSpPr>
          <p:cNvPr id="15" name="Text 12"/>
          <p:cNvSpPr txBox="1"/>
          <p:nvPr/>
        </p:nvSpPr>
        <p:spPr>
          <a:xfrm>
            <a:off x="9592056" y="1874520"/>
            <a:ext cx="1540764" cy="347472"/>
          </a:xfrm>
          <a:prstGeom prst="rect">
            <a:avLst/>
          </a:prstGeom>
          <a:noFill/>
          <a:ln/>
        </p:spPr>
        <p:txBody>
          <a:bodyPr wrap="square" lIns="0" tIns="0" rIns="0" bIns="0" rtlCol="0" anchor="ctr"/>
          <a:lstStyle/>
          <a:p>
            <a:pPr algn="ctr" indent="0" marL="0">
              <a:buNone/>
            </a:pPr>
            <a:r>
              <a:rPr lang="en-US" sz="1400" b="1" dirty="0">
                <a:solidFill>
                  <a:srgbClr val="1E3B2F"/>
                </a:solidFill>
              </a:rPr>
              <a:t>Energy source</a:t>
            </a:r>
            <a:endParaRPr lang="en-US" sz="1400" dirty="0"/>
          </a:p>
        </p:txBody>
      </p:sp>
      <p:sp>
        <p:nvSpPr>
          <p:cNvPr id="16" name="chip Scope"/>
          <p:cNvSpPr/>
          <p:nvPr/>
        </p:nvSpPr>
        <p:spPr>
          <a:xfrm>
            <a:off x="7635240" y="2331720"/>
            <a:ext cx="772668" cy="347472"/>
          </a:xfrm>
          <a:prstGeom prst="roundRect">
            <a:avLst>
              <a:gd name="adj" fmla="val 50000"/>
            </a:avLst>
          </a:prstGeom>
          <a:solidFill>
            <a:srgbClr val="EDF1EC"/>
          </a:solidFill>
          <a:ln w="12700">
            <a:solidFill>
              <a:srgbClr val="EDF1EC"/>
            </a:solidFill>
            <a:prstDash val="solid"/>
          </a:ln>
        </p:spPr>
      </p:sp>
      <p:sp>
        <p:nvSpPr>
          <p:cNvPr id="17" name="Text 14"/>
          <p:cNvSpPr txBox="1"/>
          <p:nvPr/>
        </p:nvSpPr>
        <p:spPr>
          <a:xfrm>
            <a:off x="7635240" y="2331720"/>
            <a:ext cx="772668" cy="347472"/>
          </a:xfrm>
          <a:prstGeom prst="rect">
            <a:avLst/>
          </a:prstGeom>
          <a:noFill/>
          <a:ln/>
        </p:spPr>
        <p:txBody>
          <a:bodyPr wrap="square" lIns="0" tIns="0" rIns="0" bIns="0" rtlCol="0" anchor="ctr"/>
          <a:lstStyle/>
          <a:p>
            <a:pPr algn="ctr" indent="0" marL="0">
              <a:buNone/>
            </a:pPr>
            <a:r>
              <a:rPr lang="en-US" sz="1400" b="1" dirty="0">
                <a:solidFill>
                  <a:srgbClr val="1E3B2F"/>
                </a:solidFill>
              </a:rPr>
              <a:t>Scope</a:t>
            </a:r>
            <a:endParaRPr lang="en-US" sz="1400" dirty="0"/>
          </a:p>
        </p:txBody>
      </p:sp>
      <p:sp>
        <p:nvSpPr>
          <p:cNvPr id="18" name="chip Status"/>
          <p:cNvSpPr/>
          <p:nvPr/>
        </p:nvSpPr>
        <p:spPr>
          <a:xfrm>
            <a:off x="8517636" y="2331720"/>
            <a:ext cx="868680" cy="347472"/>
          </a:xfrm>
          <a:prstGeom prst="roundRect">
            <a:avLst>
              <a:gd name="adj" fmla="val 50000"/>
            </a:avLst>
          </a:prstGeom>
          <a:solidFill>
            <a:srgbClr val="EDF1EC"/>
          </a:solidFill>
          <a:ln w="12700">
            <a:solidFill>
              <a:srgbClr val="EDF1EC"/>
            </a:solidFill>
            <a:prstDash val="solid"/>
          </a:ln>
        </p:spPr>
      </p:sp>
      <p:sp>
        <p:nvSpPr>
          <p:cNvPr id="19" name="Text 16"/>
          <p:cNvSpPr txBox="1"/>
          <p:nvPr/>
        </p:nvSpPr>
        <p:spPr>
          <a:xfrm>
            <a:off x="8517636" y="2331720"/>
            <a:ext cx="868680" cy="347472"/>
          </a:xfrm>
          <a:prstGeom prst="rect">
            <a:avLst/>
          </a:prstGeom>
          <a:noFill/>
          <a:ln/>
        </p:spPr>
        <p:txBody>
          <a:bodyPr wrap="square" lIns="0" tIns="0" rIns="0" bIns="0" rtlCol="0" anchor="ctr"/>
          <a:lstStyle/>
          <a:p>
            <a:pPr algn="ctr" indent="0" marL="0">
              <a:buNone/>
            </a:pPr>
            <a:r>
              <a:rPr lang="en-US" sz="1400" b="1" dirty="0">
                <a:solidFill>
                  <a:srgbClr val="1E3B2F"/>
                </a:solidFill>
              </a:rPr>
              <a:t>Status</a:t>
            </a:r>
            <a:endParaRPr lang="en-US" sz="1400" dirty="0"/>
          </a:p>
        </p:txBody>
      </p:sp>
      <p:sp>
        <p:nvSpPr>
          <p:cNvPr id="20" name="chip Date range"/>
          <p:cNvSpPr/>
          <p:nvPr/>
        </p:nvSpPr>
        <p:spPr>
          <a:xfrm>
            <a:off x="9496044" y="2331720"/>
            <a:ext cx="1252728" cy="347472"/>
          </a:xfrm>
          <a:prstGeom prst="roundRect">
            <a:avLst>
              <a:gd name="adj" fmla="val 50000"/>
            </a:avLst>
          </a:prstGeom>
          <a:solidFill>
            <a:srgbClr val="EDF1EC"/>
          </a:solidFill>
          <a:ln w="12700">
            <a:solidFill>
              <a:srgbClr val="EDF1EC"/>
            </a:solidFill>
            <a:prstDash val="solid"/>
          </a:ln>
        </p:spPr>
      </p:sp>
      <p:sp>
        <p:nvSpPr>
          <p:cNvPr id="21" name="Text 18"/>
          <p:cNvSpPr txBox="1"/>
          <p:nvPr/>
        </p:nvSpPr>
        <p:spPr>
          <a:xfrm>
            <a:off x="9496044" y="2331720"/>
            <a:ext cx="1252728" cy="347472"/>
          </a:xfrm>
          <a:prstGeom prst="rect">
            <a:avLst/>
          </a:prstGeom>
          <a:noFill/>
          <a:ln/>
        </p:spPr>
        <p:txBody>
          <a:bodyPr wrap="square" lIns="0" tIns="0" rIns="0" bIns="0" rtlCol="0" anchor="ctr"/>
          <a:lstStyle/>
          <a:p>
            <a:pPr algn="ctr" indent="0" marL="0">
              <a:buNone/>
            </a:pPr>
            <a:r>
              <a:rPr lang="en-US" sz="1400" b="1" dirty="0">
                <a:solidFill>
                  <a:srgbClr val="1E3B2F"/>
                </a:solidFill>
              </a:rPr>
              <a:t>Date range</a:t>
            </a:r>
            <a:endParaRPr lang="en-US" sz="1400" dirty="0"/>
          </a:p>
        </p:txBody>
      </p:sp>
      <p:sp>
        <p:nvSpPr>
          <p:cNvPr id="22" name="chip Consumption range"/>
          <p:cNvSpPr/>
          <p:nvPr/>
        </p:nvSpPr>
        <p:spPr>
          <a:xfrm>
            <a:off x="7635240" y="2788920"/>
            <a:ext cx="1924812" cy="347472"/>
          </a:xfrm>
          <a:prstGeom prst="roundRect">
            <a:avLst>
              <a:gd name="adj" fmla="val 50000"/>
            </a:avLst>
          </a:prstGeom>
          <a:solidFill>
            <a:srgbClr val="EDF1EC"/>
          </a:solidFill>
          <a:ln w="12700">
            <a:solidFill>
              <a:srgbClr val="EDF1EC"/>
            </a:solidFill>
            <a:prstDash val="solid"/>
          </a:ln>
        </p:spPr>
      </p:sp>
      <p:sp>
        <p:nvSpPr>
          <p:cNvPr id="23" name="Text 20"/>
          <p:cNvSpPr txBox="1"/>
          <p:nvPr/>
        </p:nvSpPr>
        <p:spPr>
          <a:xfrm>
            <a:off x="7635240" y="2788920"/>
            <a:ext cx="1924812" cy="347472"/>
          </a:xfrm>
          <a:prstGeom prst="rect">
            <a:avLst/>
          </a:prstGeom>
          <a:noFill/>
          <a:ln/>
        </p:spPr>
        <p:txBody>
          <a:bodyPr wrap="square" lIns="0" tIns="0" rIns="0" bIns="0" rtlCol="0" anchor="ctr"/>
          <a:lstStyle/>
          <a:p>
            <a:pPr algn="ctr" indent="0" marL="0">
              <a:buNone/>
            </a:pPr>
            <a:r>
              <a:rPr lang="en-US" sz="1400" b="1" dirty="0">
                <a:solidFill>
                  <a:srgbClr val="1E3B2F"/>
                </a:solidFill>
              </a:rPr>
              <a:t>Consumption range</a:t>
            </a:r>
            <a:endParaRPr lang="en-US" sz="1400" dirty="0"/>
          </a:p>
        </p:txBody>
      </p:sp>
      <p:sp>
        <p:nvSpPr>
          <p:cNvPr id="24" name="Text 21"/>
          <p:cNvSpPr txBox="1"/>
          <p:nvPr/>
        </p:nvSpPr>
        <p:spPr>
          <a:xfrm>
            <a:off x="7635240" y="3383280"/>
            <a:ext cx="4023360" cy="2194560"/>
          </a:xfrm>
          <a:prstGeom prst="rect">
            <a:avLst/>
          </a:prstGeom>
          <a:noFill/>
          <a:ln/>
        </p:spPr>
        <p:txBody>
          <a:bodyPr wrap="square" lIns="0" tIns="0" rIns="0" bIns="0" rtlCol="0" anchor="t"/>
          <a:lstStyle/>
          <a:p>
            <a:pPr indent="0" marL="0">
              <a:buNone/>
            </a:pPr>
            <a:r>
              <a:rPr lang="en-US" sz="1500" dirty="0">
                <a:solidFill>
                  <a:schemeClr val="tx1"/>
                </a:solidFill>
              </a:rPr>
              <a:t>Each filled filter adds one more condition to the WHERE clause, as a parameter.</a:t>
            </a:r>
            <a:endParaRPr lang="en-US" sz="1500" dirty="0"/>
          </a:p>
          <a:p>
            <a:pPr indent="0" marL="0">
              <a:buNone/>
            </a:pPr>
            <a:r>
              <a:rPr lang="en-US" sz="800" dirty="0">
                <a:solidFill>
                  <a:schemeClr val="tx1"/>
                </a:solidFill>
              </a:rPr>
              <a:t> </a:t>
            </a:r>
            <a:endParaRPr lang="en-US" sz="1500" dirty="0"/>
          </a:p>
          <a:p>
            <a:pPr indent="0" marL="0">
              <a:buNone/>
            </a:pPr>
            <a:r>
              <a:rPr lang="en-US" sz="1500" b="1" dirty="0">
                <a:solidFill>
                  <a:schemeClr val="tx1"/>
                </a:solidFill>
              </a:rPr>
              <a:t>Example on the left: </a:t>
            </a:r>
            <a:pPr indent="0" marL="0">
              <a:buNone/>
            </a:pPr>
            <a:r>
              <a:rPr lang="en-US" sz="1500" dirty="0">
                <a:solidFill>
                  <a:schemeClr val="tx1"/>
                </a:solidFill>
              </a:rPr>
              <a:t>readings on 2 Sep with consumption of at least 5,000 gives readings 2002 and 2010, with totals underneath.</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lIns="0" tIns="0" rIns="0" bIns="0" rtlCol="0" anchor="ctr"/>
          <a:lstStyle/>
          <a:p>
            <a:pPr algn="l" indent="0" marL="0">
              <a:buNone/>
            </a:pPr>
            <a:r>
              <a:rPr lang="en-US" sz="3200" b="1" dirty="0">
                <a:solidFill>
                  <a:schemeClr val="tx2"/>
                </a:solidFill>
              </a:rPr>
              <a:t>Every Review 2 query, run live</a:t>
            </a:r>
            <a:endParaRPr lang="en-US" sz="3200" dirty="0"/>
          </a:p>
        </p:txBody>
      </p:sp>
      <p:sp>
        <p:nvSpPr>
          <p:cNvPr id="3" name="meter digit 0"/>
          <p:cNvSpPr/>
          <p:nvPr/>
        </p:nvSpPr>
        <p:spPr>
          <a:xfrm>
            <a:off x="11091672" y="502920"/>
            <a:ext cx="274320" cy="402336"/>
          </a:xfrm>
          <a:prstGeom prst="roundRect">
            <a:avLst>
              <a:gd name="adj" fmla="val 13333"/>
            </a:avLst>
          </a:prstGeom>
          <a:solidFill>
            <a:srgbClr val="14261E"/>
          </a:solidFill>
          <a:ln w="6350">
            <a:solidFill>
              <a:srgbClr val="000000"/>
            </a:solidFill>
            <a:prstDash val="solid"/>
          </a:ln>
        </p:spPr>
      </p:sp>
      <p:sp>
        <p:nvSpPr>
          <p:cNvPr id="4" name="Text 2"/>
          <p:cNvSpPr txBox="1"/>
          <p:nvPr/>
        </p:nvSpPr>
        <p:spPr>
          <a:xfrm>
            <a:off x="11091672" y="502920"/>
            <a:ext cx="27432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5" name="meter digit 1"/>
          <p:cNvSpPr/>
          <p:nvPr/>
        </p:nvSpPr>
        <p:spPr>
          <a:xfrm>
            <a:off x="11393424" y="502920"/>
            <a:ext cx="274320" cy="402336"/>
          </a:xfrm>
          <a:prstGeom prst="roundRect">
            <a:avLst>
              <a:gd name="adj" fmla="val 13333"/>
            </a:avLst>
          </a:prstGeom>
          <a:solidFill>
            <a:srgbClr val="C8371E"/>
          </a:solidFill>
          <a:ln w="6350">
            <a:solidFill>
              <a:srgbClr val="000000"/>
            </a:solidFill>
            <a:prstDash val="solid"/>
          </a:ln>
        </p:spPr>
      </p:sp>
      <p:sp>
        <p:nvSpPr>
          <p:cNvPr id="6" name="Text 4"/>
          <p:cNvSpPr txBox="1"/>
          <p:nvPr/>
        </p:nvSpPr>
        <p:spPr>
          <a:xfrm>
            <a:off x="11393424" y="502920"/>
            <a:ext cx="27432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a:t>
            </a:r>
            <a:endParaRPr lang="en-US" sz="1600" dirty="0"/>
          </a:p>
        </p:txBody>
      </p:sp>
      <p:pic>
        <p:nvPicPr>
          <p:cNvPr id="7" name="Image 0" descr="queries_top screenshot">    </p:cNvPr>
          <p:cNvPicPr>
            <a:picLocks noChangeAspect="1"/>
          </p:cNvPicPr>
          <p:nvPr/>
        </p:nvPicPr>
        <p:blipFill>
          <a:blip r:embed="rId1"/>
          <a:stretch>
            <a:fillRect/>
          </a:stretch>
        </p:blipFill>
        <p:spPr>
          <a:xfrm>
            <a:off x="548640" y="1371600"/>
            <a:ext cx="4682038" cy="4846320"/>
          </a:xfrm>
          <a:prstGeom prst="rect">
            <a:avLst/>
          </a:prstGeom>
          <a:effectLst>
            <a:outerShdw sx="100000" sy="100000" kx="0" ky="0" algn="bl" rotWithShape="0" blurRad="101600" dist="25400" dir="5400000">
              <a:srgbClr val="1C2B24">
                <a:alpha val="18000"/>
              </a:srgbClr>
            </a:outerShdw>
          </a:effectLst>
        </p:spPr>
      </p:pic>
      <p:sp>
        <p:nvSpPr>
          <p:cNvPr id="8" name="queries_top frame"/>
          <p:cNvSpPr/>
          <p:nvPr/>
        </p:nvSpPr>
        <p:spPr>
          <a:xfrm>
            <a:off x="548640" y="1371600"/>
            <a:ext cx="4682038" cy="4846320"/>
          </a:xfrm>
          <a:prstGeom prst="rect">
            <a:avLst/>
          </a:prstGeom>
          <a:ln w="9525">
            <a:solidFill>
              <a:srgbClr val="D3DCD5"/>
            </a:solidFill>
            <a:prstDash val="solid"/>
          </a:ln>
        </p:spPr>
      </p:sp>
      <p:pic>
        <p:nvPicPr>
          <p:cNvPr id="9" name="Image 1" descr="console screenshot">    </p:cNvPr>
          <p:cNvPicPr>
            <a:picLocks noChangeAspect="1"/>
          </p:cNvPicPr>
          <p:nvPr/>
        </p:nvPicPr>
        <p:blipFill>
          <a:blip r:embed="rId2"/>
          <a:stretch>
            <a:fillRect/>
          </a:stretch>
        </p:blipFill>
        <p:spPr>
          <a:xfrm>
            <a:off x="5852160" y="1371600"/>
            <a:ext cx="3657600" cy="2856973"/>
          </a:xfrm>
          <a:prstGeom prst="rect">
            <a:avLst/>
          </a:prstGeom>
          <a:effectLst>
            <a:outerShdw sx="100000" sy="100000" kx="0" ky="0" algn="bl" rotWithShape="0" blurRad="101600" dist="25400" dir="5400000">
              <a:srgbClr val="1C2B24">
                <a:alpha val="18000"/>
              </a:srgbClr>
            </a:outerShdw>
          </a:effectLst>
        </p:spPr>
      </p:pic>
      <p:sp>
        <p:nvSpPr>
          <p:cNvPr id="10" name="console frame"/>
          <p:cNvSpPr/>
          <p:nvPr/>
        </p:nvSpPr>
        <p:spPr>
          <a:xfrm>
            <a:off x="5852160" y="1371600"/>
            <a:ext cx="3657600" cy="2856973"/>
          </a:xfrm>
          <a:prstGeom prst="rect">
            <a:avLst/>
          </a:prstGeom>
          <a:ln w="9525">
            <a:solidFill>
              <a:srgbClr val="D3DCD5"/>
            </a:solidFill>
            <a:prstDash val="solid"/>
          </a:ln>
        </p:spPr>
      </p:sp>
      <p:sp>
        <p:nvSpPr>
          <p:cNvPr id="11" name="Text 7"/>
          <p:cNvSpPr txBox="1"/>
          <p:nvPr/>
        </p:nvSpPr>
        <p:spPr>
          <a:xfrm>
            <a:off x="5852160" y="4526280"/>
            <a:ext cx="5806440" cy="914400"/>
          </a:xfrm>
          <a:prstGeom prst="rect">
            <a:avLst/>
          </a:prstGeom>
          <a:noFill/>
          <a:ln/>
        </p:spPr>
        <p:txBody>
          <a:bodyPr wrap="square" lIns="0" tIns="0" rIns="0" bIns="0" rtlCol="0" anchor="t"/>
          <a:lstStyle/>
          <a:p>
            <a:pPr indent="0" marL="0">
              <a:buNone/>
            </a:pPr>
            <a:r>
              <a:rPr lang="en-US" sz="1500" b="1" dirty="0">
                <a:solidFill>
                  <a:srgbClr val="1E3B2F"/>
                </a:solidFill>
              </a:rPr>
              <a:t>Read from sql/03_queries.sql</a:t>
            </a:r>
            <a:endParaRPr lang="en-US" sz="1500" dirty="0"/>
          </a:p>
          <a:p>
            <a:pPr indent="0" marL="0">
              <a:buNone/>
            </a:pPr>
            <a:r>
              <a:rPr lang="en-US" sz="1500" dirty="0">
                <a:solidFill>
                  <a:schemeClr val="tx1"/>
                </a:solidFill>
              </a:rPr>
              <a:t>So the page always matches the file we submit. Sections 7.1 to 8.2 plus two new checks.</a:t>
            </a:r>
            <a:endParaRPr lang="en-US" sz="1500" dirty="0"/>
          </a:p>
        </p:txBody>
      </p:sp>
      <p:sp>
        <p:nvSpPr>
          <p:cNvPr id="12" name="Text 8"/>
          <p:cNvSpPr txBox="1"/>
          <p:nvPr/>
        </p:nvSpPr>
        <p:spPr>
          <a:xfrm>
            <a:off x="5852160" y="5440680"/>
            <a:ext cx="5806440" cy="914400"/>
          </a:xfrm>
          <a:prstGeom prst="rect">
            <a:avLst/>
          </a:prstGeom>
          <a:noFill/>
          <a:ln/>
        </p:spPr>
        <p:txBody>
          <a:bodyPr wrap="square" lIns="0" tIns="0" rIns="0" bIns="0" rtlCol="0" anchor="t"/>
          <a:lstStyle/>
          <a:p>
            <a:pPr indent="0" marL="0">
              <a:buNone/>
            </a:pPr>
            <a:r>
              <a:rPr lang="en-US" sz="1500" b="1" dirty="0">
                <a:solidFill>
                  <a:srgbClr val="1E3B2F"/>
                </a:solidFill>
              </a:rPr>
              <a:t>A box for our own SELECT</a:t>
            </a:r>
            <a:endParaRPr lang="en-US" sz="1500" dirty="0"/>
          </a:p>
          <a:p>
            <a:pPr indent="0" marL="0">
              <a:buNone/>
            </a:pPr>
            <a:r>
              <a:rPr lang="en-US" sz="1500" dirty="0">
                <a:solidFill>
                  <a:schemeClr val="tx1"/>
                </a:solidFill>
              </a:rPr>
              <a:t>Runs inside START TRANSACTION READ ONLY, so nothing can be changed from it.</a:t>
            </a:r>
            <a:endParaRPr lang="en-US" sz="1500" dirty="0"/>
          </a:p>
        </p:txBody>
      </p:sp>
      <p:sp>
        <p:nvSpPr>
          <p:cNvPr id="13" name="Text 9"/>
          <p:cNvSpPr txBox="1"/>
          <p:nvPr/>
        </p:nvSpPr>
        <p:spPr>
          <a:xfrm>
            <a:off x="9692640" y="1417320"/>
            <a:ext cx="1965960" cy="1188720"/>
          </a:xfrm>
          <a:prstGeom prst="rect">
            <a:avLst/>
          </a:prstGeom>
          <a:noFill/>
          <a:ln/>
        </p:spPr>
        <p:txBody>
          <a:bodyPr wrap="square" lIns="0" tIns="0" rIns="0" bIns="0" rtlCol="0" anchor="t"/>
          <a:lstStyle/>
          <a:p>
            <a:pPr indent="0" marL="0">
              <a:buNone/>
            </a:pPr>
            <a:r>
              <a:rPr lang="en-US" sz="1500" i="1" dirty="0">
                <a:solidFill>
                  <a:srgbClr val="5E6F66"/>
                </a:solidFill>
              </a:rPr>
              <a:t>Useful when someone asks “what if you…”</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lIns="0" tIns="0" rIns="0" bIns="0" rtlCol="0" anchor="ctr"/>
          <a:lstStyle/>
          <a:p>
            <a:pPr algn="l" indent="0" marL="0">
              <a:buNone/>
            </a:pPr>
            <a:r>
              <a:rPr lang="en-US" sz="3200" b="1" dirty="0">
                <a:solidFill>
                  <a:schemeClr val="tx2"/>
                </a:solidFill>
              </a:rPr>
              <a:t>Audit report from a stored procedure</a:t>
            </a:r>
            <a:endParaRPr lang="en-US" sz="3200" dirty="0"/>
          </a:p>
        </p:txBody>
      </p:sp>
      <p:sp>
        <p:nvSpPr>
          <p:cNvPr id="3" name="meter digit 0"/>
          <p:cNvSpPr/>
          <p:nvPr/>
        </p:nvSpPr>
        <p:spPr>
          <a:xfrm>
            <a:off x="11091672" y="502920"/>
            <a:ext cx="274320" cy="402336"/>
          </a:xfrm>
          <a:prstGeom prst="roundRect">
            <a:avLst>
              <a:gd name="adj" fmla="val 13333"/>
            </a:avLst>
          </a:prstGeom>
          <a:solidFill>
            <a:srgbClr val="14261E"/>
          </a:solidFill>
          <a:ln w="6350">
            <a:solidFill>
              <a:srgbClr val="000000"/>
            </a:solidFill>
            <a:prstDash val="solid"/>
          </a:ln>
        </p:spPr>
      </p:sp>
      <p:sp>
        <p:nvSpPr>
          <p:cNvPr id="4" name="Text 2"/>
          <p:cNvSpPr txBox="1"/>
          <p:nvPr/>
        </p:nvSpPr>
        <p:spPr>
          <a:xfrm>
            <a:off x="11091672" y="502920"/>
            <a:ext cx="27432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5" name="meter digit 1"/>
          <p:cNvSpPr/>
          <p:nvPr/>
        </p:nvSpPr>
        <p:spPr>
          <a:xfrm>
            <a:off x="11393424" y="502920"/>
            <a:ext cx="274320" cy="402336"/>
          </a:xfrm>
          <a:prstGeom prst="roundRect">
            <a:avLst>
              <a:gd name="adj" fmla="val 13333"/>
            </a:avLst>
          </a:prstGeom>
          <a:solidFill>
            <a:srgbClr val="C8371E"/>
          </a:solidFill>
          <a:ln w="6350">
            <a:solidFill>
              <a:srgbClr val="000000"/>
            </a:solidFill>
            <a:prstDash val="solid"/>
          </a:ln>
        </p:spPr>
      </p:sp>
      <p:sp>
        <p:nvSpPr>
          <p:cNvPr id="6" name="Text 4"/>
          <p:cNvSpPr txBox="1"/>
          <p:nvPr/>
        </p:nvSpPr>
        <p:spPr>
          <a:xfrm>
            <a:off x="11393424" y="502920"/>
            <a:ext cx="27432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pic>
        <p:nvPicPr>
          <p:cNvPr id="7" name="Image 0" descr="report screenshot">    </p:cNvPr>
          <p:cNvPicPr>
            <a:picLocks noChangeAspect="1"/>
          </p:cNvPicPr>
          <p:nvPr/>
        </p:nvPicPr>
        <p:blipFill>
          <a:blip r:embed="rId1"/>
          <a:stretch>
            <a:fillRect/>
          </a:stretch>
        </p:blipFill>
        <p:spPr>
          <a:xfrm>
            <a:off x="548640" y="1371600"/>
            <a:ext cx="6035040" cy="4741817"/>
          </a:xfrm>
          <a:prstGeom prst="rect">
            <a:avLst/>
          </a:prstGeom>
          <a:effectLst>
            <a:outerShdw sx="100000" sy="100000" kx="0" ky="0" algn="bl" rotWithShape="0" blurRad="101600" dist="25400" dir="5400000">
              <a:srgbClr val="1C2B24">
                <a:alpha val="18000"/>
              </a:srgbClr>
            </a:outerShdw>
          </a:effectLst>
        </p:spPr>
      </p:pic>
      <p:sp>
        <p:nvSpPr>
          <p:cNvPr id="8" name="report frame"/>
          <p:cNvSpPr/>
          <p:nvPr/>
        </p:nvSpPr>
        <p:spPr>
          <a:xfrm>
            <a:off x="548640" y="1371600"/>
            <a:ext cx="6035040" cy="4741817"/>
          </a:xfrm>
          <a:prstGeom prst="rect">
            <a:avLst/>
          </a:prstGeom>
          <a:ln w="9525">
            <a:solidFill>
              <a:srgbClr val="D3DCD5"/>
            </a:solidFill>
            <a:prstDash val="solid"/>
          </a:ln>
        </p:spPr>
      </p:sp>
      <p:sp>
        <p:nvSpPr>
          <p:cNvPr id="9" name="call box"/>
          <p:cNvSpPr/>
          <p:nvPr/>
        </p:nvSpPr>
        <p:spPr>
          <a:xfrm>
            <a:off x="6949440" y="1371600"/>
            <a:ext cx="4709160" cy="914400"/>
          </a:xfrm>
          <a:prstGeom prst="roundRect">
            <a:avLst>
              <a:gd name="adj" fmla="val 10000"/>
            </a:avLst>
          </a:prstGeom>
          <a:solidFill>
            <a:srgbClr val="14261E"/>
          </a:solidFill>
          <a:ln w="12700">
            <a:solidFill>
              <a:srgbClr val="14261E"/>
            </a:solidFill>
            <a:prstDash val="solid"/>
          </a:ln>
        </p:spPr>
      </p:sp>
      <p:sp>
        <p:nvSpPr>
          <p:cNvPr id="10" name="Text 7"/>
          <p:cNvSpPr txBox="1"/>
          <p:nvPr/>
        </p:nvSpPr>
        <p:spPr>
          <a:xfrm>
            <a:off x="7132320" y="1371600"/>
            <a:ext cx="4389120" cy="914400"/>
          </a:xfrm>
          <a:prstGeom prst="rect">
            <a:avLst/>
          </a:prstGeom>
          <a:noFill/>
          <a:ln/>
        </p:spPr>
        <p:txBody>
          <a:bodyPr wrap="square" lIns="0" tIns="0" rIns="0" bIns="0" rtlCol="0" anchor="ctr"/>
          <a:lstStyle/>
          <a:p>
            <a:pPr indent="0" marL="0">
              <a:buNone/>
            </a:pPr>
            <a:r>
              <a:rPr lang="en-US" sz="1400" dirty="0">
                <a:solidFill>
                  <a:srgbClr val="F2C230"/>
                </a:solidFill>
                <a:latin typeface="Courier New" pitchFamily="34" charset="0"/>
                <a:ea typeface="Courier New" pitchFamily="34" charset="-122"/>
                <a:cs typeface="Courier New" pitchFamily="34" charset="-120"/>
              </a:rPr>
              <a:t>CALL sp_GetCampusAuditReport(</a:t>
            </a:r>
            <a:endParaRPr lang="en-US" sz="1400" dirty="0"/>
          </a:p>
          <a:p>
            <a:pPr indent="0" marL="0">
              <a:buNone/>
            </a:pPr>
            <a:r>
              <a:rPr lang="en-US" sz="1400" dirty="0">
                <a:solidFill>
                  <a:srgbClr val="F2C230"/>
                </a:solidFill>
                <a:latin typeface="Courier New" pitchFamily="34" charset="0"/>
                <a:ea typeface="Courier New" pitchFamily="34" charset="-122"/>
                <a:cs typeface="Courier New" pitchFamily="34" charset="-120"/>
              </a:rPr>
              <a:t>    '2026-09-01', '2026-09-03');</a:t>
            </a:r>
            <a:endParaRPr lang="en-US" sz="1400" dirty="0"/>
          </a:p>
        </p:txBody>
      </p:sp>
      <p:graphicFrame>
        <p:nvGraphicFramePr>
          <p:cNvPr id="11" name="Chart 0" descr=""/>
          <p:cNvGraphicFramePr/>
          <p:nvPr/>
        </p:nvGraphicFramePr>
        <p:xfrm>
          <a:off x="6949440" y="2514600"/>
          <a:ext cx="2377440" cy="2377440"/>
        </p:xfrm>
        <a:graphic xmlns:a="http://schemas.openxmlformats.org/drawingml/2006/main">
          <a:graphicData uri="http://schemas.openxmlformats.org/drawingml/2006/chart">
            <c:chart xmlns:c="http://schemas.openxmlformats.org/drawingml/2006/chart" r:id="rId2"/>
          </a:graphicData>
        </a:graphic>
      </p:graphicFrame>
      <p:sp>
        <p:nvSpPr>
          <p:cNvPr id="12" name="Text 8"/>
          <p:cNvSpPr txBox="1"/>
          <p:nvPr/>
        </p:nvSpPr>
        <p:spPr>
          <a:xfrm>
            <a:off x="9464040" y="2606040"/>
            <a:ext cx="2194560" cy="2286000"/>
          </a:xfrm>
          <a:prstGeom prst="rect">
            <a:avLst/>
          </a:prstGeom>
          <a:noFill/>
          <a:ln/>
        </p:spPr>
        <p:txBody>
          <a:bodyPr wrap="square" lIns="0" tIns="0" rIns="0" bIns="0" rtlCol="0" anchor="t"/>
          <a:lstStyle/>
          <a:p>
            <a:pPr indent="0" marL="0">
              <a:buNone/>
            </a:pPr>
            <a:r>
              <a:rPr lang="en-US" sz="2600" b="1" dirty="0">
                <a:solidFill>
                  <a:srgbClr val="1E3B2F"/>
                </a:solidFill>
              </a:rPr>
              <a:t>47,745.5 kg</a:t>
            </a:r>
            <a:endParaRPr lang="en-US" sz="1600" dirty="0"/>
          </a:p>
          <a:p>
            <a:pPr indent="0" marL="0">
              <a:buNone/>
            </a:pPr>
            <a:r>
              <a:rPr lang="en-US" sz="1400" dirty="0">
                <a:solidFill>
                  <a:srgbClr val="5E6F66"/>
                </a:solidFill>
              </a:rPr>
              <a:t>Same total as Review 2</a:t>
            </a:r>
            <a:endParaRPr lang="en-US" sz="1600" dirty="0"/>
          </a:p>
          <a:p>
            <a:pPr indent="0" marL="0">
              <a:buNone/>
            </a:pPr>
            <a:r>
              <a:rPr lang="en-US" sz="600" dirty="0">
                <a:solidFill>
                  <a:schemeClr val="tx1"/>
                </a:solidFill>
              </a:rPr>
              <a:t> </a:t>
            </a:r>
            <a:endParaRPr lang="en-US" sz="1600" dirty="0"/>
          </a:p>
          <a:p>
            <a:pPr indent="0" marL="0">
              <a:buNone/>
            </a:pPr>
            <a:r>
              <a:rPr lang="en-US" sz="1500" b="1" dirty="0">
                <a:solidFill>
                  <a:srgbClr val="3D6E9E"/>
                </a:solidFill>
              </a:rPr>
              <a:t>Scope 2  76.9%</a:t>
            </a:r>
            <a:endParaRPr lang="en-US" sz="1600" dirty="0"/>
          </a:p>
          <a:p>
            <a:pPr indent="0" marL="0">
              <a:buNone/>
            </a:pPr>
            <a:r>
              <a:rPr lang="en-US" sz="1500" b="1" dirty="0">
                <a:solidFill>
                  <a:srgbClr val="D9822B"/>
                </a:solidFill>
              </a:rPr>
              <a:t>Scope 1  22.2%</a:t>
            </a:r>
            <a:endParaRPr lang="en-US" sz="1600" dirty="0"/>
          </a:p>
          <a:p>
            <a:pPr indent="0" marL="0">
              <a:buNone/>
            </a:pPr>
            <a:r>
              <a:rPr lang="en-US" sz="1500" b="1" dirty="0">
                <a:solidFill>
                  <a:srgbClr val="8A7FA8"/>
                </a:solidFill>
              </a:rPr>
              <a:t>Scope 3  0.9%</a:t>
            </a:r>
            <a:endParaRPr lang="en-US" sz="1600" dirty="0"/>
          </a:p>
        </p:txBody>
      </p:sp>
      <p:sp>
        <p:nvSpPr>
          <p:cNvPr id="13" name="Text 9"/>
          <p:cNvSpPr txBox="1"/>
          <p:nvPr/>
        </p:nvSpPr>
        <p:spPr>
          <a:xfrm>
            <a:off x="6949440" y="5074920"/>
            <a:ext cx="4709160" cy="914400"/>
          </a:xfrm>
          <a:prstGeom prst="rect">
            <a:avLst/>
          </a:prstGeom>
          <a:noFill/>
          <a:ln/>
        </p:spPr>
        <p:txBody>
          <a:bodyPr wrap="square" lIns="0" tIns="0" rIns="0" bIns="0" rtlCol="0" anchor="t"/>
          <a:lstStyle/>
          <a:p>
            <a:pPr indent="0" marL="0">
              <a:buNone/>
            </a:pPr>
            <a:r>
              <a:rPr lang="en-US" sz="1500" dirty="0">
                <a:solidFill>
                  <a:schemeClr val="tx1"/>
                </a:solidFill>
              </a:rPr>
              <a:t>Groups readings in a date range by building and source. The page adds shares, prints cleanly and downloads as CSV.</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lIns="0" tIns="0" rIns="0" bIns="0" rtlCol="0" anchor="ctr"/>
          <a:lstStyle/>
          <a:p>
            <a:pPr algn="l" indent="0" marL="0">
              <a:buNone/>
            </a:pPr>
            <a:r>
              <a:rPr lang="en-US" sz="3200" b="1" dirty="0">
                <a:solidFill>
                  <a:schemeClr val="tx2"/>
                </a:solidFill>
              </a:rPr>
              <a:t>Input is checked three times</a:t>
            </a:r>
            <a:endParaRPr lang="en-US" sz="3200" dirty="0"/>
          </a:p>
        </p:txBody>
      </p:sp>
      <p:sp>
        <p:nvSpPr>
          <p:cNvPr id="3" name="meter digit 0"/>
          <p:cNvSpPr/>
          <p:nvPr/>
        </p:nvSpPr>
        <p:spPr>
          <a:xfrm>
            <a:off x="11091672" y="502920"/>
            <a:ext cx="274320" cy="402336"/>
          </a:xfrm>
          <a:prstGeom prst="roundRect">
            <a:avLst>
              <a:gd name="adj" fmla="val 13333"/>
            </a:avLst>
          </a:prstGeom>
          <a:solidFill>
            <a:srgbClr val="14261E"/>
          </a:solidFill>
          <a:ln w="6350">
            <a:solidFill>
              <a:srgbClr val="000000"/>
            </a:solidFill>
            <a:prstDash val="solid"/>
          </a:ln>
        </p:spPr>
      </p:sp>
      <p:sp>
        <p:nvSpPr>
          <p:cNvPr id="4" name="Text 2"/>
          <p:cNvSpPr txBox="1"/>
          <p:nvPr/>
        </p:nvSpPr>
        <p:spPr>
          <a:xfrm>
            <a:off x="11091672" y="502920"/>
            <a:ext cx="27432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5" name="meter digit 1"/>
          <p:cNvSpPr/>
          <p:nvPr/>
        </p:nvSpPr>
        <p:spPr>
          <a:xfrm>
            <a:off x="11393424" y="502920"/>
            <a:ext cx="274320" cy="402336"/>
          </a:xfrm>
          <a:prstGeom prst="roundRect">
            <a:avLst>
              <a:gd name="adj" fmla="val 13333"/>
            </a:avLst>
          </a:prstGeom>
          <a:solidFill>
            <a:srgbClr val="C8371E"/>
          </a:solidFill>
          <a:ln w="6350">
            <a:solidFill>
              <a:srgbClr val="000000"/>
            </a:solidFill>
            <a:prstDash val="solid"/>
          </a:ln>
        </p:spPr>
      </p:sp>
      <p:sp>
        <p:nvSpPr>
          <p:cNvPr id="6" name="Text 4"/>
          <p:cNvSpPr txBox="1"/>
          <p:nvPr/>
        </p:nvSpPr>
        <p:spPr>
          <a:xfrm>
            <a:off x="11393424" y="502920"/>
            <a:ext cx="27432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7" name="layer Browser"/>
          <p:cNvSpPr/>
          <p:nvPr/>
        </p:nvSpPr>
        <p:spPr>
          <a:xfrm>
            <a:off x="548640" y="1417320"/>
            <a:ext cx="6400800" cy="1298448"/>
          </a:xfrm>
          <a:prstGeom prst="roundRect">
            <a:avLst>
              <a:gd name="adj" fmla="val 7042"/>
            </a:avLst>
          </a:prstGeom>
          <a:solidFill>
            <a:srgbClr val="EDF1EC"/>
          </a:solidFill>
          <a:ln w="12700">
            <a:solidFill>
              <a:srgbClr val="EDF1EC"/>
            </a:solidFill>
            <a:prstDash val="solid"/>
          </a:ln>
        </p:spPr>
      </p:sp>
      <p:sp>
        <p:nvSpPr>
          <p:cNvPr id="8" name="Text 6"/>
          <p:cNvSpPr txBox="1"/>
          <p:nvPr/>
        </p:nvSpPr>
        <p:spPr>
          <a:xfrm>
            <a:off x="822960" y="1554480"/>
            <a:ext cx="5852160" cy="1051560"/>
          </a:xfrm>
          <a:prstGeom prst="rect">
            <a:avLst/>
          </a:prstGeom>
          <a:noFill/>
          <a:ln/>
        </p:spPr>
        <p:txBody>
          <a:bodyPr wrap="square" lIns="0" tIns="0" rIns="0" bIns="0" rtlCol="0" anchor="t"/>
          <a:lstStyle/>
          <a:p>
            <a:pPr indent="0" marL="0">
              <a:buNone/>
            </a:pPr>
            <a:r>
              <a:rPr lang="en-US" sz="2000" b="1" dirty="0">
                <a:solidFill>
                  <a:srgbClr val="1E3B2F"/>
                </a:solidFill>
              </a:rPr>
              <a:t>Browser</a:t>
            </a:r>
            <a:pPr indent="0" marL="0">
              <a:buNone/>
            </a:pPr>
            <a:r>
              <a:rPr lang="en-US" sz="1300" dirty="0">
                <a:solidFill>
                  <a:srgbClr val="5E6F66"/>
                </a:solidFill>
                <a:latin typeface="Courier New" pitchFamily="34" charset="0"/>
                <a:ea typeface="Courier New" pitchFamily="34" charset="-122"/>
                <a:cs typeface="Courier New" pitchFamily="34" charset="-120"/>
              </a:rPr>
              <a:t>   app.js</a:t>
            </a:r>
            <a:endParaRPr lang="en-US" sz="1600" dirty="0"/>
          </a:p>
          <a:p>
            <a:pPr indent="0" marL="0">
              <a:buNone/>
            </a:pPr>
            <a:r>
              <a:rPr lang="en-US" sz="1500" dirty="0">
                <a:solidFill>
                  <a:srgbClr val="1C2B24"/>
                </a:solidFill>
              </a:rPr>
              <a:t>Empty fields, negative numbers, wrong email, future dates, end date before start</a:t>
            </a:r>
            <a:endParaRPr lang="en-US" sz="1600" dirty="0"/>
          </a:p>
        </p:txBody>
      </p:sp>
      <p:sp>
        <p:nvSpPr>
          <p:cNvPr id="9" name="layer Server"/>
          <p:cNvSpPr/>
          <p:nvPr/>
        </p:nvSpPr>
        <p:spPr>
          <a:xfrm>
            <a:off x="822960" y="2898648"/>
            <a:ext cx="5852160" cy="1298448"/>
          </a:xfrm>
          <a:prstGeom prst="roundRect">
            <a:avLst>
              <a:gd name="adj" fmla="val 7042"/>
            </a:avLst>
          </a:prstGeom>
          <a:solidFill>
            <a:srgbClr val="DCE5DE"/>
          </a:solidFill>
          <a:ln w="12700">
            <a:solidFill>
              <a:srgbClr val="DCE5DE"/>
            </a:solidFill>
            <a:prstDash val="solid"/>
          </a:ln>
        </p:spPr>
      </p:sp>
      <p:sp>
        <p:nvSpPr>
          <p:cNvPr id="10" name="Text 8"/>
          <p:cNvSpPr txBox="1"/>
          <p:nvPr/>
        </p:nvSpPr>
        <p:spPr>
          <a:xfrm>
            <a:off x="1097280" y="3035808"/>
            <a:ext cx="5303520" cy="1051560"/>
          </a:xfrm>
          <a:prstGeom prst="rect">
            <a:avLst/>
          </a:prstGeom>
          <a:noFill/>
          <a:ln/>
        </p:spPr>
        <p:txBody>
          <a:bodyPr wrap="square" lIns="0" tIns="0" rIns="0" bIns="0" rtlCol="0" anchor="t"/>
          <a:lstStyle/>
          <a:p>
            <a:pPr indent="0" marL="0">
              <a:buNone/>
            </a:pPr>
            <a:r>
              <a:rPr lang="en-US" sz="2000" b="1" dirty="0">
                <a:solidFill>
                  <a:srgbClr val="1E3B2F"/>
                </a:solidFill>
              </a:rPr>
              <a:t>Server</a:t>
            </a:r>
            <a:pPr indent="0" marL="0">
              <a:buNone/>
            </a:pPr>
            <a:r>
              <a:rPr lang="en-US" sz="1300" dirty="0">
                <a:solidFill>
                  <a:srgbClr val="5E6F66"/>
                </a:solidFill>
                <a:latin typeface="Courier New" pitchFamily="34" charset="0"/>
                <a:ea typeface="Courier New" pitchFamily="34" charset="-122"/>
                <a:cs typeface="Courier New" pitchFamily="34" charset="-120"/>
              </a:rPr>
              <a:t>   validation.py</a:t>
            </a:r>
            <a:endParaRPr lang="en-US" sz="1600" dirty="0"/>
          </a:p>
          <a:p>
            <a:pPr indent="0" marL="0">
              <a:buNone/>
            </a:pPr>
            <a:r>
              <a:rPr lang="en-US" sz="1500" dirty="0">
                <a:solidFill>
                  <a:srgbClr val="1C2B24"/>
                </a:solidFill>
              </a:rPr>
              <a:t>All of that again, plus duplicates, missing parents, one reading per meter per day, inactive meters</a:t>
            </a:r>
            <a:endParaRPr lang="en-US" sz="1600" dirty="0"/>
          </a:p>
        </p:txBody>
      </p:sp>
      <p:sp>
        <p:nvSpPr>
          <p:cNvPr id="11" name="layer MySQL"/>
          <p:cNvSpPr/>
          <p:nvPr/>
        </p:nvSpPr>
        <p:spPr>
          <a:xfrm>
            <a:off x="1097280" y="4379976"/>
            <a:ext cx="5303520" cy="1298448"/>
          </a:xfrm>
          <a:prstGeom prst="roundRect">
            <a:avLst>
              <a:gd name="adj" fmla="val 7042"/>
            </a:avLst>
          </a:prstGeom>
          <a:solidFill>
            <a:srgbClr val="1E3B2F"/>
          </a:solidFill>
          <a:ln w="12700">
            <a:solidFill>
              <a:srgbClr val="1E3B2F"/>
            </a:solidFill>
            <a:prstDash val="solid"/>
          </a:ln>
        </p:spPr>
      </p:sp>
      <p:sp>
        <p:nvSpPr>
          <p:cNvPr id="12" name="Text 10"/>
          <p:cNvSpPr txBox="1"/>
          <p:nvPr/>
        </p:nvSpPr>
        <p:spPr>
          <a:xfrm>
            <a:off x="1371600" y="4517136"/>
            <a:ext cx="4754880" cy="1051560"/>
          </a:xfrm>
          <a:prstGeom prst="rect">
            <a:avLst/>
          </a:prstGeom>
          <a:noFill/>
          <a:ln/>
        </p:spPr>
        <p:txBody>
          <a:bodyPr wrap="square" lIns="0" tIns="0" rIns="0" bIns="0" rtlCol="0" anchor="t"/>
          <a:lstStyle/>
          <a:p>
            <a:pPr indent="0" marL="0">
              <a:buNone/>
            </a:pPr>
            <a:r>
              <a:rPr lang="en-US" sz="2000" b="1" dirty="0">
                <a:solidFill>
                  <a:srgbClr val="FFFFFF"/>
                </a:solidFill>
              </a:rPr>
              <a:t>MySQL</a:t>
            </a:r>
            <a:pPr indent="0" marL="0">
              <a:buNone/>
            </a:pPr>
            <a:r>
              <a:rPr lang="en-US" sz="1300" dirty="0">
                <a:solidFill>
                  <a:srgbClr val="C9D6CE"/>
                </a:solidFill>
                <a:latin typeface="Courier New" pitchFamily="34" charset="0"/>
                <a:ea typeface="Courier New" pitchFamily="34" charset="-122"/>
                <a:cs typeface="Courier New" pitchFamily="34" charset="-120"/>
              </a:rPr>
              <a:t>   01_schema.sql</a:t>
            </a:r>
            <a:endParaRPr lang="en-US" sz="1600" dirty="0"/>
          </a:p>
          <a:p>
            <a:pPr indent="0" marL="0">
              <a:buNone/>
            </a:pPr>
            <a:r>
              <a:rPr lang="en-US" sz="1500" dirty="0">
                <a:solidFill>
                  <a:srgbClr val="FFFFFF"/>
                </a:solidFill>
              </a:rPr>
              <a:t>PRIMARY KEY, FOREIGN KEY, UNIQUE, CHECK, ENUM, NOT NULL</a:t>
            </a:r>
            <a:endParaRPr lang="en-US" sz="1600" dirty="0"/>
          </a:p>
        </p:txBody>
      </p:sp>
      <p:pic>
        <p:nvPicPr>
          <p:cNvPr id="13" name="Image 0" descr="val_server screenshot">    </p:cNvPr>
          <p:cNvPicPr>
            <a:picLocks noChangeAspect="1"/>
          </p:cNvPicPr>
          <p:nvPr/>
        </p:nvPicPr>
        <p:blipFill>
          <a:blip r:embed="rId1"/>
          <a:stretch>
            <a:fillRect/>
          </a:stretch>
        </p:blipFill>
        <p:spPr>
          <a:xfrm>
            <a:off x="7765026" y="1417320"/>
            <a:ext cx="3893574" cy="4023360"/>
          </a:xfrm>
          <a:prstGeom prst="rect">
            <a:avLst/>
          </a:prstGeom>
          <a:effectLst>
            <a:outerShdw sx="100000" sy="100000" kx="0" ky="0" algn="bl" rotWithShape="0" blurRad="101600" dist="25400" dir="5400000">
              <a:srgbClr val="1C2B24">
                <a:alpha val="18000"/>
              </a:srgbClr>
            </a:outerShdw>
          </a:effectLst>
        </p:spPr>
      </p:pic>
      <p:sp>
        <p:nvSpPr>
          <p:cNvPr id="14" name="val_server frame"/>
          <p:cNvSpPr/>
          <p:nvPr/>
        </p:nvSpPr>
        <p:spPr>
          <a:xfrm>
            <a:off x="7765026" y="1417320"/>
            <a:ext cx="3893574" cy="4023360"/>
          </a:xfrm>
          <a:prstGeom prst="rect">
            <a:avLst/>
          </a:prstGeom>
          <a:ln w="9525">
            <a:solidFill>
              <a:srgbClr val="D3DCD5"/>
            </a:solidFill>
            <a:prstDash val="solid"/>
          </a:ln>
        </p:spPr>
      </p:sp>
      <p:sp>
        <p:nvSpPr>
          <p:cNvPr id="15" name="Text 12"/>
          <p:cNvSpPr txBox="1"/>
          <p:nvPr/>
        </p:nvSpPr>
        <p:spPr>
          <a:xfrm>
            <a:off x="7406640" y="5532120"/>
            <a:ext cx="4251960" cy="274320"/>
          </a:xfrm>
          <a:prstGeom prst="rect">
            <a:avLst/>
          </a:prstGeom>
          <a:noFill/>
          <a:ln/>
        </p:spPr>
        <p:txBody>
          <a:bodyPr wrap="square" lIns="0" tIns="0" rIns="0" bIns="0" rtlCol="0" anchor="t"/>
          <a:lstStyle/>
          <a:p>
            <a:pPr algn="r" indent="0" marL="0">
              <a:buNone/>
            </a:pPr>
            <a:r>
              <a:rPr lang="en-US" sz="1100" i="1" dirty="0">
                <a:solidFill>
                  <a:srgbClr val="5E6F66"/>
                </a:solidFill>
              </a:rPr>
              <a:t>Caught by the server: meter 1005 already has a reading on 3 Sep</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lIns="0" tIns="0" rIns="0" bIns="0" rtlCol="0" anchor="ctr"/>
          <a:lstStyle/>
          <a:p>
            <a:pPr algn="l" indent="0" marL="0">
              <a:buNone/>
            </a:pPr>
            <a:r>
              <a:rPr lang="en-US" sz="3200" b="1" dirty="0">
                <a:solidFill>
                  <a:schemeClr val="tx2"/>
                </a:solidFill>
              </a:rPr>
              <a:t>30 test cases, all passing</a:t>
            </a:r>
            <a:endParaRPr lang="en-US" sz="3200" dirty="0"/>
          </a:p>
        </p:txBody>
      </p:sp>
      <p:sp>
        <p:nvSpPr>
          <p:cNvPr id="3" name="meter digit 0"/>
          <p:cNvSpPr/>
          <p:nvPr/>
        </p:nvSpPr>
        <p:spPr>
          <a:xfrm>
            <a:off x="11091672" y="502920"/>
            <a:ext cx="274320" cy="402336"/>
          </a:xfrm>
          <a:prstGeom prst="roundRect">
            <a:avLst>
              <a:gd name="adj" fmla="val 13333"/>
            </a:avLst>
          </a:prstGeom>
          <a:solidFill>
            <a:srgbClr val="14261E"/>
          </a:solidFill>
          <a:ln w="6350">
            <a:solidFill>
              <a:srgbClr val="000000"/>
            </a:solidFill>
            <a:prstDash val="solid"/>
          </a:ln>
        </p:spPr>
      </p:sp>
      <p:sp>
        <p:nvSpPr>
          <p:cNvPr id="4" name="Text 2"/>
          <p:cNvSpPr txBox="1"/>
          <p:nvPr/>
        </p:nvSpPr>
        <p:spPr>
          <a:xfrm>
            <a:off x="11091672" y="502920"/>
            <a:ext cx="27432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5" name="meter digit 1"/>
          <p:cNvSpPr/>
          <p:nvPr/>
        </p:nvSpPr>
        <p:spPr>
          <a:xfrm>
            <a:off x="11393424" y="502920"/>
            <a:ext cx="274320" cy="402336"/>
          </a:xfrm>
          <a:prstGeom prst="roundRect">
            <a:avLst>
              <a:gd name="adj" fmla="val 13333"/>
            </a:avLst>
          </a:prstGeom>
          <a:solidFill>
            <a:srgbClr val="C8371E"/>
          </a:solidFill>
          <a:ln w="6350">
            <a:solidFill>
              <a:srgbClr val="000000"/>
            </a:solidFill>
            <a:prstDash val="solid"/>
          </a:ln>
        </p:spPr>
      </p:sp>
      <p:sp>
        <p:nvSpPr>
          <p:cNvPr id="6" name="Text 4"/>
          <p:cNvSpPr txBox="1"/>
          <p:nvPr/>
        </p:nvSpPr>
        <p:spPr>
          <a:xfrm>
            <a:off x="11393424" y="502920"/>
            <a:ext cx="27432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7" name="Text 5"/>
          <p:cNvSpPr txBox="1"/>
          <p:nvPr/>
        </p:nvSpPr>
        <p:spPr>
          <a:xfrm>
            <a:off x="548640" y="1463040"/>
            <a:ext cx="3840480" cy="1737360"/>
          </a:xfrm>
          <a:prstGeom prst="rect">
            <a:avLst/>
          </a:prstGeom>
          <a:noFill/>
          <a:ln/>
        </p:spPr>
        <p:txBody>
          <a:bodyPr wrap="square" lIns="0" tIns="0" rIns="0" bIns="0" rtlCol="0" anchor="t"/>
          <a:lstStyle/>
          <a:p>
            <a:pPr indent="0" marL="0">
              <a:buNone/>
            </a:pPr>
            <a:r>
              <a:rPr lang="en-US" sz="7200" b="1" dirty="0">
                <a:solidFill>
                  <a:srgbClr val="1E3B2F"/>
                </a:solidFill>
              </a:rPr>
              <a:t>30/30</a:t>
            </a:r>
            <a:endParaRPr lang="en-US" sz="1600" dirty="0"/>
          </a:p>
          <a:p>
            <a:pPr indent="0" marL="0">
              <a:buNone/>
            </a:pPr>
            <a:r>
              <a:rPr lang="en-US" sz="1500" dirty="0">
                <a:solidFill>
                  <a:srgbClr val="5E6F66"/>
                </a:solidFill>
                <a:latin typeface="Courier New" pitchFamily="34" charset="0"/>
                <a:ea typeface="Courier New" pitchFamily="34" charset="-122"/>
                <a:cs typeface="Courier New" pitchFamily="34" charset="-120"/>
              </a:rPr>
              <a:t>python -m pytest -v</a:t>
            </a:r>
            <a:endParaRPr lang="en-US" sz="1600" dirty="0"/>
          </a:p>
        </p:txBody>
      </p:sp>
      <p:sp>
        <p:nvSpPr>
          <p:cNvPr id="8" name="Text 6"/>
          <p:cNvSpPr txBox="1"/>
          <p:nvPr/>
        </p:nvSpPr>
        <p:spPr>
          <a:xfrm>
            <a:off x="548640" y="3429000"/>
            <a:ext cx="3657600" cy="1645920"/>
          </a:xfrm>
          <a:prstGeom prst="rect">
            <a:avLst/>
          </a:prstGeom>
          <a:noFill/>
          <a:ln/>
        </p:spPr>
        <p:txBody>
          <a:bodyPr wrap="square" lIns="0" tIns="0" rIns="0" bIns="0" rtlCol="0" anchor="t"/>
          <a:lstStyle/>
          <a:p>
            <a:pPr indent="0" marL="0">
              <a:buNone/>
            </a:pPr>
            <a:r>
              <a:rPr lang="en-US" sz="1500" dirty="0">
                <a:solidFill>
                  <a:schemeClr val="tx1"/>
                </a:solidFill>
              </a:rPr>
              <a:t>Before every test the test database is rebuilt from the same two SQL files, so each one starts from the Review 2 data and nothing touches the real database.</a:t>
            </a:r>
            <a:endParaRPr lang="en-US" sz="1500" dirty="0"/>
          </a:p>
        </p:txBody>
      </p:sp>
      <p:sp>
        <p:nvSpPr>
          <p:cNvPr id="9" name="Text 7"/>
          <p:cNvSpPr txBox="1"/>
          <p:nvPr/>
        </p:nvSpPr>
        <p:spPr>
          <a:xfrm>
            <a:off x="548640" y="5257800"/>
            <a:ext cx="3657600" cy="640080"/>
          </a:xfrm>
          <a:prstGeom prst="rect">
            <a:avLst/>
          </a:prstGeom>
          <a:noFill/>
          <a:ln/>
        </p:spPr>
        <p:txBody>
          <a:bodyPr wrap="square" lIns="0" tIns="0" rIns="0" bIns="0" rtlCol="0" anchor="t"/>
          <a:lstStyle/>
          <a:p>
            <a:pPr indent="0" marL="0">
              <a:buNone/>
            </a:pPr>
            <a:r>
              <a:rPr lang="en-US" sz="1400" i="1" dirty="0">
                <a:solidFill>
                  <a:srgbClr val="5E6F66"/>
                </a:solidFill>
              </a:rPr>
              <a:t>Full table with inputs and expected results: report section 9</a:t>
            </a:r>
            <a:endParaRPr lang="en-US" sz="1400" dirty="0"/>
          </a:p>
        </p:txBody>
      </p:sp>
      <p:graphicFrame>
        <p:nvGraphicFramePr>
          <p:cNvPr id="10" name="Chart 0" descr=""/>
          <p:cNvGraphicFramePr/>
          <p:nvPr/>
        </p:nvGraphicFramePr>
        <p:xfrm>
          <a:off x="4572000" y="1325880"/>
          <a:ext cx="7086600" cy="48463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lIns="0" tIns="0" rIns="0" bIns="0" rtlCol="0" anchor="ctr"/>
          <a:lstStyle/>
          <a:p>
            <a:pPr algn="l" indent="0" marL="0">
              <a:buNone/>
            </a:pPr>
            <a:r>
              <a:rPr lang="en-US" sz="3200" b="1" dirty="0">
                <a:solidFill>
                  <a:schemeClr val="tx2"/>
                </a:solidFill>
              </a:rPr>
              <a:t>The final database</a:t>
            </a:r>
            <a:endParaRPr lang="en-US" sz="3200" dirty="0"/>
          </a:p>
        </p:txBody>
      </p:sp>
      <p:sp>
        <p:nvSpPr>
          <p:cNvPr id="3" name="meter digit 0"/>
          <p:cNvSpPr/>
          <p:nvPr/>
        </p:nvSpPr>
        <p:spPr>
          <a:xfrm>
            <a:off x="11091672" y="502920"/>
            <a:ext cx="274320" cy="402336"/>
          </a:xfrm>
          <a:prstGeom prst="roundRect">
            <a:avLst>
              <a:gd name="adj" fmla="val 13333"/>
            </a:avLst>
          </a:prstGeom>
          <a:solidFill>
            <a:srgbClr val="14261E"/>
          </a:solidFill>
          <a:ln w="6350">
            <a:solidFill>
              <a:srgbClr val="000000"/>
            </a:solidFill>
            <a:prstDash val="solid"/>
          </a:ln>
        </p:spPr>
      </p:sp>
      <p:sp>
        <p:nvSpPr>
          <p:cNvPr id="4" name="Text 2"/>
          <p:cNvSpPr txBox="1"/>
          <p:nvPr/>
        </p:nvSpPr>
        <p:spPr>
          <a:xfrm>
            <a:off x="11091672" y="502920"/>
            <a:ext cx="27432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5" name="meter digit 1"/>
          <p:cNvSpPr/>
          <p:nvPr/>
        </p:nvSpPr>
        <p:spPr>
          <a:xfrm>
            <a:off x="11393424" y="502920"/>
            <a:ext cx="274320" cy="402336"/>
          </a:xfrm>
          <a:prstGeom prst="roundRect">
            <a:avLst>
              <a:gd name="adj" fmla="val 13333"/>
            </a:avLst>
          </a:prstGeom>
          <a:solidFill>
            <a:srgbClr val="C8371E"/>
          </a:solidFill>
          <a:ln w="6350">
            <a:solidFill>
              <a:srgbClr val="000000"/>
            </a:solidFill>
            <a:prstDash val="solid"/>
          </a:ln>
        </p:spPr>
      </p:sp>
      <p:sp>
        <p:nvSpPr>
          <p:cNvPr id="6" name="Text 4"/>
          <p:cNvSpPr txBox="1"/>
          <p:nvPr/>
        </p:nvSpPr>
        <p:spPr>
          <a:xfrm>
            <a:off x="11393424" y="502920"/>
            <a:ext cx="27432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7" name="Text 5"/>
          <p:cNvSpPr txBox="1"/>
          <p:nvPr/>
        </p:nvSpPr>
        <p:spPr>
          <a:xfrm>
            <a:off x="548640" y="1463040"/>
            <a:ext cx="1737360" cy="1463040"/>
          </a:xfrm>
          <a:prstGeom prst="rect">
            <a:avLst/>
          </a:prstGeom>
          <a:noFill/>
          <a:ln/>
        </p:spPr>
        <p:txBody>
          <a:bodyPr wrap="square" lIns="0" tIns="0" rIns="0" bIns="0" rtlCol="0" anchor="t"/>
          <a:lstStyle/>
          <a:p>
            <a:pPr indent="0" marL="0">
              <a:buNone/>
            </a:pPr>
            <a:r>
              <a:rPr lang="en-US" sz="5400" b="1" dirty="0">
                <a:solidFill>
                  <a:srgbClr val="1E3B2F"/>
                </a:solidFill>
              </a:rPr>
              <a:t>7</a:t>
            </a:r>
            <a:endParaRPr lang="en-US" sz="1600" dirty="0"/>
          </a:p>
          <a:p>
            <a:pPr indent="0" marL="0">
              <a:buNone/>
            </a:pPr>
            <a:r>
              <a:rPr lang="en-US" sz="1600" dirty="0">
                <a:solidFill>
                  <a:srgbClr val="1C2B24"/>
                </a:solidFill>
              </a:rPr>
              <a:t>tables</a:t>
            </a:r>
            <a:endParaRPr lang="en-US" sz="1600" dirty="0"/>
          </a:p>
        </p:txBody>
      </p:sp>
      <p:sp>
        <p:nvSpPr>
          <p:cNvPr id="8" name="Text 6"/>
          <p:cNvSpPr txBox="1"/>
          <p:nvPr/>
        </p:nvSpPr>
        <p:spPr>
          <a:xfrm>
            <a:off x="2423160" y="1463040"/>
            <a:ext cx="1737360" cy="1463040"/>
          </a:xfrm>
          <a:prstGeom prst="rect">
            <a:avLst/>
          </a:prstGeom>
          <a:noFill/>
          <a:ln/>
        </p:spPr>
        <p:txBody>
          <a:bodyPr wrap="square" lIns="0" tIns="0" rIns="0" bIns="0" rtlCol="0" anchor="t"/>
          <a:lstStyle/>
          <a:p>
            <a:pPr indent="0" marL="0">
              <a:buNone/>
            </a:pPr>
            <a:r>
              <a:rPr lang="en-US" sz="5400" b="1" dirty="0">
                <a:solidFill>
                  <a:srgbClr val="1E3B2F"/>
                </a:solidFill>
              </a:rPr>
              <a:t>6</a:t>
            </a:r>
            <a:endParaRPr lang="en-US" sz="1600" dirty="0"/>
          </a:p>
          <a:p>
            <a:pPr indent="0" marL="0">
              <a:buNone/>
            </a:pPr>
            <a:r>
              <a:rPr lang="en-US" sz="1600" dirty="0">
                <a:solidFill>
                  <a:srgbClr val="1C2B24"/>
                </a:solidFill>
              </a:rPr>
              <a:t>foreign keys</a:t>
            </a:r>
            <a:endParaRPr lang="en-US" sz="1600" dirty="0"/>
          </a:p>
        </p:txBody>
      </p:sp>
      <p:sp>
        <p:nvSpPr>
          <p:cNvPr id="9" name="Text 7"/>
          <p:cNvSpPr txBox="1"/>
          <p:nvPr/>
        </p:nvSpPr>
        <p:spPr>
          <a:xfrm>
            <a:off x="4297680" y="1463040"/>
            <a:ext cx="1737360" cy="1463040"/>
          </a:xfrm>
          <a:prstGeom prst="rect">
            <a:avLst/>
          </a:prstGeom>
          <a:noFill/>
          <a:ln/>
        </p:spPr>
        <p:txBody>
          <a:bodyPr wrap="square" lIns="0" tIns="0" rIns="0" bIns="0" rtlCol="0" anchor="t"/>
          <a:lstStyle/>
          <a:p>
            <a:pPr indent="0" marL="0">
              <a:buNone/>
            </a:pPr>
            <a:r>
              <a:rPr lang="en-US" sz="5400" b="1" dirty="0">
                <a:solidFill>
                  <a:srgbClr val="C8371E"/>
                </a:solidFill>
              </a:rPr>
              <a:t>2</a:t>
            </a:r>
            <a:endParaRPr lang="en-US" sz="1600" dirty="0"/>
          </a:p>
          <a:p>
            <a:pPr indent="0" marL="0">
              <a:buNone/>
            </a:pPr>
            <a:r>
              <a:rPr lang="en-US" sz="1600" dirty="0">
                <a:solidFill>
                  <a:srgbClr val="1C2B24"/>
                </a:solidFill>
              </a:rPr>
              <a:t>triggers</a:t>
            </a:r>
            <a:endParaRPr lang="en-US" sz="1600" dirty="0"/>
          </a:p>
        </p:txBody>
      </p:sp>
      <p:sp>
        <p:nvSpPr>
          <p:cNvPr id="10" name="Text 8"/>
          <p:cNvSpPr txBox="1"/>
          <p:nvPr/>
        </p:nvSpPr>
        <p:spPr>
          <a:xfrm>
            <a:off x="6172200" y="1463040"/>
            <a:ext cx="1737360" cy="1463040"/>
          </a:xfrm>
          <a:prstGeom prst="rect">
            <a:avLst/>
          </a:prstGeom>
          <a:noFill/>
          <a:ln/>
        </p:spPr>
        <p:txBody>
          <a:bodyPr wrap="square" lIns="0" tIns="0" rIns="0" bIns="0" rtlCol="0" anchor="t"/>
          <a:lstStyle/>
          <a:p>
            <a:pPr indent="0" marL="0">
              <a:buNone/>
            </a:pPr>
            <a:r>
              <a:rPr lang="en-US" sz="5400" b="1" dirty="0">
                <a:solidFill>
                  <a:srgbClr val="1E3B2F"/>
                </a:solidFill>
              </a:rPr>
              <a:t>2</a:t>
            </a:r>
            <a:endParaRPr lang="en-US" sz="1600" dirty="0"/>
          </a:p>
          <a:p>
            <a:pPr indent="0" marL="0">
              <a:buNone/>
            </a:pPr>
            <a:r>
              <a:rPr lang="en-US" sz="1600" dirty="0">
                <a:solidFill>
                  <a:srgbClr val="1C2B24"/>
                </a:solidFill>
              </a:rPr>
              <a:t>views</a:t>
            </a:r>
            <a:endParaRPr lang="en-US" sz="1600" dirty="0"/>
          </a:p>
        </p:txBody>
      </p:sp>
      <p:sp>
        <p:nvSpPr>
          <p:cNvPr id="11" name="Text 9"/>
          <p:cNvSpPr txBox="1"/>
          <p:nvPr/>
        </p:nvSpPr>
        <p:spPr>
          <a:xfrm>
            <a:off x="8046720" y="1463040"/>
            <a:ext cx="1737360" cy="1463040"/>
          </a:xfrm>
          <a:prstGeom prst="rect">
            <a:avLst/>
          </a:prstGeom>
          <a:noFill/>
          <a:ln/>
        </p:spPr>
        <p:txBody>
          <a:bodyPr wrap="square" lIns="0" tIns="0" rIns="0" bIns="0" rtlCol="0" anchor="t"/>
          <a:lstStyle/>
          <a:p>
            <a:pPr indent="0" marL="0">
              <a:buNone/>
            </a:pPr>
            <a:r>
              <a:rPr lang="en-US" sz="5400" b="1" dirty="0">
                <a:solidFill>
                  <a:srgbClr val="C8371E"/>
                </a:solidFill>
              </a:rPr>
              <a:t>1</a:t>
            </a:r>
            <a:endParaRPr lang="en-US" sz="1600" dirty="0"/>
          </a:p>
          <a:p>
            <a:pPr indent="0" marL="0">
              <a:buNone/>
            </a:pPr>
            <a:r>
              <a:rPr lang="en-US" sz="1600" dirty="0">
                <a:solidFill>
                  <a:srgbClr val="1C2B24"/>
                </a:solidFill>
              </a:rPr>
              <a:t>stored procedure</a:t>
            </a:r>
            <a:endParaRPr lang="en-US" sz="1600" dirty="0"/>
          </a:p>
        </p:txBody>
      </p:sp>
      <p:sp>
        <p:nvSpPr>
          <p:cNvPr id="12" name="Text 10"/>
          <p:cNvSpPr txBox="1"/>
          <p:nvPr/>
        </p:nvSpPr>
        <p:spPr>
          <a:xfrm>
            <a:off x="9921240" y="1463040"/>
            <a:ext cx="1737360" cy="1463040"/>
          </a:xfrm>
          <a:prstGeom prst="rect">
            <a:avLst/>
          </a:prstGeom>
          <a:noFill/>
          <a:ln/>
        </p:spPr>
        <p:txBody>
          <a:bodyPr wrap="square" lIns="0" tIns="0" rIns="0" bIns="0" rtlCol="0" anchor="t"/>
          <a:lstStyle/>
          <a:p>
            <a:pPr indent="0" marL="0">
              <a:buNone/>
            </a:pPr>
            <a:r>
              <a:rPr lang="en-US" sz="5400" b="1" dirty="0">
                <a:solidFill>
                  <a:srgbClr val="1E3B2F"/>
                </a:solidFill>
              </a:rPr>
              <a:t>58</a:t>
            </a:r>
            <a:endParaRPr lang="en-US" sz="1600" dirty="0"/>
          </a:p>
          <a:p>
            <a:pPr indent="0" marL="0">
              <a:buNone/>
            </a:pPr>
            <a:r>
              <a:rPr lang="en-US" sz="1600" dirty="0">
                <a:solidFill>
                  <a:srgbClr val="1C2B24"/>
                </a:solidFill>
              </a:rPr>
              <a:t>sample rows</a:t>
            </a:r>
            <a:endParaRPr lang="en-US" sz="1600" dirty="0"/>
          </a:p>
        </p:txBody>
      </p:sp>
      <p:sp>
        <p:nvSpPr>
          <p:cNvPr id="13" name="divider"/>
          <p:cNvSpPr/>
          <p:nvPr/>
        </p:nvSpPr>
        <p:spPr>
          <a:xfrm>
            <a:off x="548640" y="3154680"/>
            <a:ext cx="11109960" cy="0"/>
          </a:xfrm>
          <a:prstGeom prst="line">
            <a:avLst/>
          </a:prstGeom>
          <a:noFill/>
          <a:ln w="12700">
            <a:solidFill>
              <a:srgbClr val="D3DCD5"/>
            </a:solidFill>
            <a:prstDash val="solid"/>
          </a:ln>
        </p:spPr>
      </p:sp>
      <p:sp>
        <p:nvSpPr>
          <p:cNvPr id="14" name="Text 12"/>
          <p:cNvSpPr txBox="1"/>
          <p:nvPr/>
        </p:nvSpPr>
        <p:spPr>
          <a:xfrm>
            <a:off x="548640" y="3429000"/>
            <a:ext cx="5120640" cy="1280160"/>
          </a:xfrm>
          <a:prstGeom prst="rect">
            <a:avLst/>
          </a:prstGeom>
          <a:noFill/>
          <a:ln/>
        </p:spPr>
        <p:txBody>
          <a:bodyPr wrap="square" lIns="0" tIns="0" rIns="0" bIns="0" rtlCol="0" anchor="t"/>
          <a:lstStyle/>
          <a:p>
            <a:pPr indent="0" marL="0">
              <a:buNone/>
            </a:pPr>
            <a:r>
              <a:rPr lang="en-US" sz="1600" b="1" dirty="0">
                <a:solidFill>
                  <a:srgbClr val="C8371E"/>
                </a:solidFill>
              </a:rPr>
              <a:t>New since Review 2</a:t>
            </a:r>
            <a:endParaRPr lang="en-US" sz="1600" dirty="0"/>
          </a:p>
          <a:p>
            <a:pPr indent="0" marL="0">
              <a:buNone/>
            </a:pPr>
            <a:r>
              <a:rPr lang="en-US" sz="1400" dirty="0">
                <a:solidFill>
                  <a:schemeClr val="tx1"/>
                </a:solidFill>
                <a:latin typeface="Courier New" pitchFamily="34" charset="0"/>
                <a:ea typeface="Courier New" pitchFamily="34" charset="-122"/>
                <a:cs typeface="Courier New" pitchFamily="34" charset="-120"/>
              </a:rPr>
              <a:t>trg_after_energy_reading_update</a:t>
            </a:r>
            <a:endParaRPr lang="en-US" sz="1600" dirty="0"/>
          </a:p>
          <a:p>
            <a:pPr indent="0" marL="0">
              <a:buNone/>
            </a:pPr>
            <a:r>
              <a:rPr lang="en-US" sz="1400" dirty="0">
                <a:solidFill>
                  <a:schemeClr val="tx1"/>
                </a:solidFill>
                <a:latin typeface="Courier New" pitchFamily="34" charset="0"/>
                <a:ea typeface="Courier New" pitchFamily="34" charset="-122"/>
                <a:cs typeface="Courier New" pitchFamily="34" charset="-120"/>
              </a:rPr>
              <a:t>sp_GetCampusAuditReport</a:t>
            </a:r>
            <a:endParaRPr lang="en-US" sz="1600" dirty="0"/>
          </a:p>
        </p:txBody>
      </p:sp>
      <p:sp>
        <p:nvSpPr>
          <p:cNvPr id="15" name="Text 13"/>
          <p:cNvSpPr txBox="1"/>
          <p:nvPr/>
        </p:nvSpPr>
        <p:spPr>
          <a:xfrm>
            <a:off x="6126480" y="3429000"/>
            <a:ext cx="5532120" cy="1280160"/>
          </a:xfrm>
          <a:prstGeom prst="rect">
            <a:avLst/>
          </a:prstGeom>
          <a:noFill/>
          <a:ln/>
        </p:spPr>
        <p:txBody>
          <a:bodyPr wrap="square" lIns="0" tIns="0" rIns="0" bIns="0" rtlCol="0" anchor="t"/>
          <a:lstStyle/>
          <a:p>
            <a:pPr indent="0" marL="0">
              <a:buNone/>
            </a:pPr>
            <a:r>
              <a:rPr lang="en-US" sz="1600" b="1" dirty="0">
                <a:solidFill>
                  <a:srgbClr val="1E3B2F"/>
                </a:solidFill>
              </a:rPr>
              <a:t>Still consistent</a:t>
            </a:r>
            <a:endParaRPr lang="en-US" sz="1600" dirty="0"/>
          </a:p>
          <a:p>
            <a:pPr indent="0" marL="0">
              <a:buNone/>
            </a:pPr>
            <a:r>
              <a:rPr lang="en-US" sz="1600" dirty="0">
                <a:solidFill>
                  <a:schemeClr val="tx1"/>
                </a:solidFill>
              </a:rPr>
              <a:t>Same seven entities, keys, names and ON DELETE rules as the ER diagram and the Review 2 schema.</a:t>
            </a:r>
            <a:endParaRPr lang="en-US" sz="1600" dirty="0"/>
          </a:p>
        </p:txBody>
      </p:sp>
      <p:sp>
        <p:nvSpPr>
          <p:cNvPr id="16" name="Text 14"/>
          <p:cNvSpPr txBox="1"/>
          <p:nvPr/>
        </p:nvSpPr>
        <p:spPr>
          <a:xfrm>
            <a:off x="548640" y="4709160"/>
            <a:ext cx="11109960" cy="457200"/>
          </a:xfrm>
          <a:prstGeom prst="rect">
            <a:avLst/>
          </a:prstGeom>
          <a:noFill/>
          <a:ln/>
        </p:spPr>
        <p:txBody>
          <a:bodyPr wrap="square" lIns="0" tIns="0" rIns="0" bIns="0" rtlCol="0" anchor="t"/>
          <a:lstStyle/>
          <a:p>
            <a:pPr indent="0" marL="0">
              <a:buNone/>
            </a:pPr>
            <a:r>
              <a:rPr lang="en-US" sz="1600" dirty="0">
                <a:solidFill>
                  <a:schemeClr val="tx1"/>
                </a:solidFill>
              </a:rPr>
              <a:t>Two files rebuild it from scratch: </a:t>
            </a:r>
            <a:pPr indent="0" marL="0">
              <a:buNone/>
            </a:pPr>
            <a:r>
              <a:rPr lang="en-US" sz="1600" b="1" dirty="0">
                <a:solidFill>
                  <a:schemeClr val="tx1"/>
                </a:solidFill>
                <a:latin typeface="Courier New" pitchFamily="34" charset="0"/>
                <a:ea typeface="Courier New" pitchFamily="34" charset="-122"/>
                <a:cs typeface="Courier New" pitchFamily="34" charset="-120"/>
              </a:rPr>
              <a:t>sql/01_schema.sql</a:t>
            </a:r>
            <a:pPr indent="0" marL="0">
              <a:buNone/>
            </a:pPr>
            <a:r>
              <a:rPr lang="en-US" sz="1600" dirty="0">
                <a:solidFill>
                  <a:schemeClr val="tx1"/>
                </a:solidFill>
              </a:rPr>
              <a:t> then </a:t>
            </a:r>
            <a:pPr indent="0" marL="0">
              <a:buNone/>
            </a:pPr>
            <a:r>
              <a:rPr lang="en-US" sz="1600" b="1" dirty="0">
                <a:solidFill>
                  <a:schemeClr val="tx1"/>
                </a:solidFill>
                <a:latin typeface="Courier New" pitchFamily="34" charset="0"/>
                <a:ea typeface="Courier New" pitchFamily="34" charset="-122"/>
                <a:cs typeface="Courier New" pitchFamily="34" charset="-120"/>
              </a:rPr>
              <a:t>sql/02_seed.sql</a:t>
            </a:r>
            <a:pPr indent="0" marL="0">
              <a:buNone/>
            </a:pPr>
            <a:r>
              <a:rPr lang="en-US" sz="1600" dirty="0">
                <a:solidFill>
                  <a:schemeClr val="tx1"/>
                </a:solidFill>
              </a:rPr>
              <a:t>. Safe to run again after the demo.</a:t>
            </a:r>
            <a:endParaRPr lang="en-US" sz="1600" dirty="0"/>
          </a:p>
        </p:txBody>
      </p:sp>
      <p:sp>
        <p:nvSpPr>
          <p:cNvPr id="17" name="table departments"/>
          <p:cNvSpPr/>
          <p:nvPr/>
        </p:nvSpPr>
        <p:spPr>
          <a:xfrm>
            <a:off x="548640" y="5440680"/>
            <a:ext cx="1330452" cy="411480"/>
          </a:xfrm>
          <a:prstGeom prst="roundRect">
            <a:avLst>
              <a:gd name="adj" fmla="val 13333"/>
            </a:avLst>
          </a:prstGeom>
          <a:solidFill>
            <a:srgbClr val="EDF1EC"/>
          </a:solidFill>
          <a:ln w="12700">
            <a:solidFill>
              <a:srgbClr val="EDF1EC"/>
            </a:solidFill>
            <a:prstDash val="solid"/>
          </a:ln>
        </p:spPr>
      </p:sp>
      <p:sp>
        <p:nvSpPr>
          <p:cNvPr id="18" name="Text 16"/>
          <p:cNvSpPr txBox="1"/>
          <p:nvPr/>
        </p:nvSpPr>
        <p:spPr>
          <a:xfrm>
            <a:off x="548640" y="5440680"/>
            <a:ext cx="1330452" cy="411480"/>
          </a:xfrm>
          <a:prstGeom prst="rect">
            <a:avLst/>
          </a:prstGeom>
          <a:noFill/>
          <a:ln/>
        </p:spPr>
        <p:txBody>
          <a:bodyPr wrap="square" lIns="0" tIns="0" rIns="0" bIns="0" rtlCol="0" anchor="ctr"/>
          <a:lstStyle/>
          <a:p>
            <a:pPr algn="ctr" indent="0" marL="0">
              <a:buNone/>
            </a:pPr>
            <a:r>
              <a:rPr lang="en-US" sz="1400" dirty="0">
                <a:solidFill>
                  <a:srgbClr val="1E3B2F"/>
                </a:solidFill>
                <a:latin typeface="Courier New" pitchFamily="34" charset="0"/>
                <a:ea typeface="Courier New" pitchFamily="34" charset="-122"/>
                <a:cs typeface="Courier New" pitchFamily="34" charset="-120"/>
              </a:rPr>
              <a:t>departments</a:t>
            </a:r>
            <a:endParaRPr lang="en-US" sz="1400" dirty="0"/>
          </a:p>
        </p:txBody>
      </p:sp>
      <p:sp>
        <p:nvSpPr>
          <p:cNvPr id="19" name="table buildings"/>
          <p:cNvSpPr/>
          <p:nvPr/>
        </p:nvSpPr>
        <p:spPr>
          <a:xfrm>
            <a:off x="1988820" y="5440680"/>
            <a:ext cx="1138428" cy="411480"/>
          </a:xfrm>
          <a:prstGeom prst="roundRect">
            <a:avLst>
              <a:gd name="adj" fmla="val 13333"/>
            </a:avLst>
          </a:prstGeom>
          <a:solidFill>
            <a:srgbClr val="EDF1EC"/>
          </a:solidFill>
          <a:ln w="12700">
            <a:solidFill>
              <a:srgbClr val="EDF1EC"/>
            </a:solidFill>
            <a:prstDash val="solid"/>
          </a:ln>
        </p:spPr>
      </p:sp>
      <p:sp>
        <p:nvSpPr>
          <p:cNvPr id="20" name="Text 18"/>
          <p:cNvSpPr txBox="1"/>
          <p:nvPr/>
        </p:nvSpPr>
        <p:spPr>
          <a:xfrm>
            <a:off x="1988820" y="5440680"/>
            <a:ext cx="1138428" cy="411480"/>
          </a:xfrm>
          <a:prstGeom prst="rect">
            <a:avLst/>
          </a:prstGeom>
          <a:noFill/>
          <a:ln/>
        </p:spPr>
        <p:txBody>
          <a:bodyPr wrap="square" lIns="0" tIns="0" rIns="0" bIns="0" rtlCol="0" anchor="ctr"/>
          <a:lstStyle/>
          <a:p>
            <a:pPr algn="ctr" indent="0" marL="0">
              <a:buNone/>
            </a:pPr>
            <a:r>
              <a:rPr lang="en-US" sz="1400" dirty="0">
                <a:solidFill>
                  <a:srgbClr val="1E3B2F"/>
                </a:solidFill>
                <a:latin typeface="Courier New" pitchFamily="34" charset="0"/>
                <a:ea typeface="Courier New" pitchFamily="34" charset="-122"/>
                <a:cs typeface="Courier New" pitchFamily="34" charset="-120"/>
              </a:rPr>
              <a:t>buildings</a:t>
            </a:r>
            <a:endParaRPr lang="en-US" sz="1400" dirty="0"/>
          </a:p>
        </p:txBody>
      </p:sp>
      <p:sp>
        <p:nvSpPr>
          <p:cNvPr id="21" name="table emission_factors"/>
          <p:cNvSpPr/>
          <p:nvPr/>
        </p:nvSpPr>
        <p:spPr>
          <a:xfrm>
            <a:off x="3236976" y="5440680"/>
            <a:ext cx="1810512" cy="411480"/>
          </a:xfrm>
          <a:prstGeom prst="roundRect">
            <a:avLst>
              <a:gd name="adj" fmla="val 13333"/>
            </a:avLst>
          </a:prstGeom>
          <a:solidFill>
            <a:srgbClr val="EDF1EC"/>
          </a:solidFill>
          <a:ln w="12700">
            <a:solidFill>
              <a:srgbClr val="EDF1EC"/>
            </a:solidFill>
            <a:prstDash val="solid"/>
          </a:ln>
        </p:spPr>
      </p:sp>
      <p:sp>
        <p:nvSpPr>
          <p:cNvPr id="22" name="Text 20"/>
          <p:cNvSpPr txBox="1"/>
          <p:nvPr/>
        </p:nvSpPr>
        <p:spPr>
          <a:xfrm>
            <a:off x="3236976" y="5440680"/>
            <a:ext cx="1810512" cy="411480"/>
          </a:xfrm>
          <a:prstGeom prst="rect">
            <a:avLst/>
          </a:prstGeom>
          <a:noFill/>
          <a:ln/>
        </p:spPr>
        <p:txBody>
          <a:bodyPr wrap="square" lIns="0" tIns="0" rIns="0" bIns="0" rtlCol="0" anchor="ctr"/>
          <a:lstStyle/>
          <a:p>
            <a:pPr algn="ctr" indent="0" marL="0">
              <a:buNone/>
            </a:pPr>
            <a:r>
              <a:rPr lang="en-US" sz="1400" dirty="0">
                <a:solidFill>
                  <a:srgbClr val="1E3B2F"/>
                </a:solidFill>
                <a:latin typeface="Courier New" pitchFamily="34" charset="0"/>
                <a:ea typeface="Courier New" pitchFamily="34" charset="-122"/>
                <a:cs typeface="Courier New" pitchFamily="34" charset="-120"/>
              </a:rPr>
              <a:t>emission_factors</a:t>
            </a:r>
            <a:endParaRPr lang="en-US" sz="1400" dirty="0"/>
          </a:p>
        </p:txBody>
      </p:sp>
      <p:sp>
        <p:nvSpPr>
          <p:cNvPr id="23" name="table meters"/>
          <p:cNvSpPr/>
          <p:nvPr/>
        </p:nvSpPr>
        <p:spPr>
          <a:xfrm>
            <a:off x="5157216" y="5440680"/>
            <a:ext cx="850392" cy="411480"/>
          </a:xfrm>
          <a:prstGeom prst="roundRect">
            <a:avLst>
              <a:gd name="adj" fmla="val 13333"/>
            </a:avLst>
          </a:prstGeom>
          <a:solidFill>
            <a:srgbClr val="EDF1EC"/>
          </a:solidFill>
          <a:ln w="12700">
            <a:solidFill>
              <a:srgbClr val="EDF1EC"/>
            </a:solidFill>
            <a:prstDash val="solid"/>
          </a:ln>
        </p:spPr>
      </p:sp>
      <p:sp>
        <p:nvSpPr>
          <p:cNvPr id="24" name="Text 22"/>
          <p:cNvSpPr txBox="1"/>
          <p:nvPr/>
        </p:nvSpPr>
        <p:spPr>
          <a:xfrm>
            <a:off x="5157216" y="5440680"/>
            <a:ext cx="850392" cy="411480"/>
          </a:xfrm>
          <a:prstGeom prst="rect">
            <a:avLst/>
          </a:prstGeom>
          <a:noFill/>
          <a:ln/>
        </p:spPr>
        <p:txBody>
          <a:bodyPr wrap="square" lIns="0" tIns="0" rIns="0" bIns="0" rtlCol="0" anchor="ctr"/>
          <a:lstStyle/>
          <a:p>
            <a:pPr algn="ctr" indent="0" marL="0">
              <a:buNone/>
            </a:pPr>
            <a:r>
              <a:rPr lang="en-US" sz="1400" dirty="0">
                <a:solidFill>
                  <a:srgbClr val="1E3B2F"/>
                </a:solidFill>
                <a:latin typeface="Courier New" pitchFamily="34" charset="0"/>
                <a:ea typeface="Courier New" pitchFamily="34" charset="-122"/>
                <a:cs typeface="Courier New" pitchFamily="34" charset="-120"/>
              </a:rPr>
              <a:t>meters</a:t>
            </a:r>
            <a:endParaRPr lang="en-US" sz="1400" dirty="0"/>
          </a:p>
        </p:txBody>
      </p:sp>
      <p:sp>
        <p:nvSpPr>
          <p:cNvPr id="25" name="table energy_readings"/>
          <p:cNvSpPr/>
          <p:nvPr/>
        </p:nvSpPr>
        <p:spPr>
          <a:xfrm>
            <a:off x="6117336" y="5440680"/>
            <a:ext cx="1714500" cy="411480"/>
          </a:xfrm>
          <a:prstGeom prst="roundRect">
            <a:avLst>
              <a:gd name="adj" fmla="val 13333"/>
            </a:avLst>
          </a:prstGeom>
          <a:solidFill>
            <a:srgbClr val="EDF1EC"/>
          </a:solidFill>
          <a:ln w="12700">
            <a:solidFill>
              <a:srgbClr val="EDF1EC"/>
            </a:solidFill>
            <a:prstDash val="solid"/>
          </a:ln>
        </p:spPr>
      </p:sp>
      <p:sp>
        <p:nvSpPr>
          <p:cNvPr id="26" name="Text 24"/>
          <p:cNvSpPr txBox="1"/>
          <p:nvPr/>
        </p:nvSpPr>
        <p:spPr>
          <a:xfrm>
            <a:off x="6117336" y="5440680"/>
            <a:ext cx="1714500" cy="411480"/>
          </a:xfrm>
          <a:prstGeom prst="rect">
            <a:avLst/>
          </a:prstGeom>
          <a:noFill/>
          <a:ln/>
        </p:spPr>
        <p:txBody>
          <a:bodyPr wrap="square" lIns="0" tIns="0" rIns="0" bIns="0" rtlCol="0" anchor="ctr"/>
          <a:lstStyle/>
          <a:p>
            <a:pPr algn="ctr" indent="0" marL="0">
              <a:buNone/>
            </a:pPr>
            <a:r>
              <a:rPr lang="en-US" sz="1400" dirty="0">
                <a:solidFill>
                  <a:srgbClr val="1E3B2F"/>
                </a:solidFill>
                <a:latin typeface="Courier New" pitchFamily="34" charset="0"/>
                <a:ea typeface="Courier New" pitchFamily="34" charset="-122"/>
                <a:cs typeface="Courier New" pitchFamily="34" charset="-120"/>
              </a:rPr>
              <a:t>energy_readings</a:t>
            </a:r>
            <a:endParaRPr lang="en-US" sz="1400" dirty="0"/>
          </a:p>
        </p:txBody>
      </p:sp>
      <p:sp>
        <p:nvSpPr>
          <p:cNvPr id="27" name="table carbon_logs"/>
          <p:cNvSpPr/>
          <p:nvPr/>
        </p:nvSpPr>
        <p:spPr>
          <a:xfrm>
            <a:off x="7941564" y="5440680"/>
            <a:ext cx="1330452" cy="411480"/>
          </a:xfrm>
          <a:prstGeom prst="roundRect">
            <a:avLst>
              <a:gd name="adj" fmla="val 13333"/>
            </a:avLst>
          </a:prstGeom>
          <a:solidFill>
            <a:srgbClr val="1E3B2F"/>
          </a:solidFill>
          <a:ln w="12700">
            <a:solidFill>
              <a:srgbClr val="1E3B2F"/>
            </a:solidFill>
            <a:prstDash val="solid"/>
          </a:ln>
        </p:spPr>
      </p:sp>
      <p:sp>
        <p:nvSpPr>
          <p:cNvPr id="28" name="Text 26"/>
          <p:cNvSpPr txBox="1"/>
          <p:nvPr/>
        </p:nvSpPr>
        <p:spPr>
          <a:xfrm>
            <a:off x="7941564" y="5440680"/>
            <a:ext cx="1330452" cy="411480"/>
          </a:xfrm>
          <a:prstGeom prst="rect">
            <a:avLst/>
          </a:prstGeom>
          <a:noFill/>
          <a:ln/>
        </p:spPr>
        <p:txBody>
          <a:bodyPr wrap="square" lIns="0" tIns="0" rIns="0" bIns="0" rtlCol="0" anchor="ctr"/>
          <a:lstStyle/>
          <a:p>
            <a:pPr algn="ctr" indent="0" marL="0">
              <a:buNone/>
            </a:pPr>
            <a:r>
              <a:rPr lang="en-US" sz="1400" dirty="0">
                <a:solidFill>
                  <a:srgbClr val="FFFFFF"/>
                </a:solidFill>
                <a:latin typeface="Courier New" pitchFamily="34" charset="0"/>
                <a:ea typeface="Courier New" pitchFamily="34" charset="-122"/>
                <a:cs typeface="Courier New" pitchFamily="34" charset="-120"/>
              </a:rPr>
              <a:t>carbon_logs</a:t>
            </a:r>
            <a:endParaRPr lang="en-US" sz="1400" dirty="0"/>
          </a:p>
        </p:txBody>
      </p:sp>
      <p:sp>
        <p:nvSpPr>
          <p:cNvPr id="29" name="table audit_initiatives"/>
          <p:cNvSpPr/>
          <p:nvPr/>
        </p:nvSpPr>
        <p:spPr>
          <a:xfrm>
            <a:off x="9381744" y="5440680"/>
            <a:ext cx="1906524" cy="411480"/>
          </a:xfrm>
          <a:prstGeom prst="roundRect">
            <a:avLst>
              <a:gd name="adj" fmla="val 13333"/>
            </a:avLst>
          </a:prstGeom>
          <a:solidFill>
            <a:srgbClr val="EDF1EC"/>
          </a:solidFill>
          <a:ln w="12700">
            <a:solidFill>
              <a:srgbClr val="EDF1EC"/>
            </a:solidFill>
            <a:prstDash val="solid"/>
          </a:ln>
        </p:spPr>
      </p:sp>
      <p:sp>
        <p:nvSpPr>
          <p:cNvPr id="30" name="Text 28"/>
          <p:cNvSpPr txBox="1"/>
          <p:nvPr/>
        </p:nvSpPr>
        <p:spPr>
          <a:xfrm>
            <a:off x="9381744" y="5440680"/>
            <a:ext cx="1906524" cy="411480"/>
          </a:xfrm>
          <a:prstGeom prst="rect">
            <a:avLst/>
          </a:prstGeom>
          <a:noFill/>
          <a:ln/>
        </p:spPr>
        <p:txBody>
          <a:bodyPr wrap="square" lIns="0" tIns="0" rIns="0" bIns="0" rtlCol="0" anchor="ctr"/>
          <a:lstStyle/>
          <a:p>
            <a:pPr algn="ctr" indent="0" marL="0">
              <a:buNone/>
            </a:pPr>
            <a:r>
              <a:rPr lang="en-US" sz="1400" dirty="0">
                <a:solidFill>
                  <a:srgbClr val="1E3B2F"/>
                </a:solidFill>
                <a:latin typeface="Courier New" pitchFamily="34" charset="0"/>
                <a:ea typeface="Courier New" pitchFamily="34" charset="-122"/>
                <a:cs typeface="Courier New" pitchFamily="34" charset="-120"/>
              </a:rPr>
              <a:t>audit_initiatives</a:t>
            </a:r>
            <a:endParaRPr lang="en-US" sz="1400" dirty="0"/>
          </a:p>
        </p:txBody>
      </p:sp>
      <p:sp>
        <p:nvSpPr>
          <p:cNvPr id="31" name="Text 29"/>
          <p:cNvSpPr txBox="1"/>
          <p:nvPr/>
        </p:nvSpPr>
        <p:spPr>
          <a:xfrm>
            <a:off x="548640" y="5989320"/>
            <a:ext cx="5486400" cy="274320"/>
          </a:xfrm>
          <a:prstGeom prst="rect">
            <a:avLst/>
          </a:prstGeom>
          <a:noFill/>
          <a:ln/>
        </p:spPr>
        <p:txBody>
          <a:bodyPr wrap="square" lIns="0" tIns="0" rIns="0" bIns="0" rtlCol="0" anchor="t"/>
          <a:lstStyle/>
          <a:p>
            <a:pPr algn="l" indent="0" marL="0">
              <a:buNone/>
            </a:pPr>
            <a:r>
              <a:rPr lang="en-US" sz="1100" i="1" dirty="0">
                <a:solidFill>
                  <a:srgbClr val="5E6F66"/>
                </a:solidFill>
              </a:rPr>
              <a:t>carbon_logs (dark) is filled only by the triggers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lIns="0" tIns="0" rIns="0" bIns="0" rtlCol="0" anchor="ctr"/>
          <a:lstStyle/>
          <a:p>
            <a:pPr algn="l" indent="0" marL="0">
              <a:buNone/>
            </a:pPr>
            <a:r>
              <a:rPr lang="en-US" sz="3200" b="1" dirty="0">
                <a:solidFill>
                  <a:schemeClr val="tx2"/>
                </a:solidFill>
              </a:rPr>
              <a:t>Live demo</a:t>
            </a:r>
            <a:endParaRPr lang="en-US" sz="3200" dirty="0"/>
          </a:p>
        </p:txBody>
      </p:sp>
      <p:sp>
        <p:nvSpPr>
          <p:cNvPr id="3" name="meter digit 0"/>
          <p:cNvSpPr/>
          <p:nvPr/>
        </p:nvSpPr>
        <p:spPr>
          <a:xfrm>
            <a:off x="11091672" y="502920"/>
            <a:ext cx="274320" cy="402336"/>
          </a:xfrm>
          <a:prstGeom prst="roundRect">
            <a:avLst>
              <a:gd name="adj" fmla="val 13333"/>
            </a:avLst>
          </a:prstGeom>
          <a:solidFill>
            <a:srgbClr val="14261E"/>
          </a:solidFill>
          <a:ln w="6350">
            <a:solidFill>
              <a:srgbClr val="000000"/>
            </a:solidFill>
            <a:prstDash val="solid"/>
          </a:ln>
        </p:spPr>
      </p:sp>
      <p:sp>
        <p:nvSpPr>
          <p:cNvPr id="4" name="Text 2"/>
          <p:cNvSpPr txBox="1"/>
          <p:nvPr/>
        </p:nvSpPr>
        <p:spPr>
          <a:xfrm>
            <a:off x="11091672" y="502920"/>
            <a:ext cx="27432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5" name="meter digit 1"/>
          <p:cNvSpPr/>
          <p:nvPr/>
        </p:nvSpPr>
        <p:spPr>
          <a:xfrm>
            <a:off x="11393424" y="502920"/>
            <a:ext cx="274320" cy="402336"/>
          </a:xfrm>
          <a:prstGeom prst="roundRect">
            <a:avLst>
              <a:gd name="adj" fmla="val 13333"/>
            </a:avLst>
          </a:prstGeom>
          <a:solidFill>
            <a:srgbClr val="C8371E"/>
          </a:solidFill>
          <a:ln w="6350">
            <a:solidFill>
              <a:srgbClr val="000000"/>
            </a:solidFill>
            <a:prstDash val="solid"/>
          </a:ln>
        </p:spPr>
      </p:sp>
      <p:sp>
        <p:nvSpPr>
          <p:cNvPr id="6" name="Text 4"/>
          <p:cNvSpPr txBox="1"/>
          <p:nvPr/>
        </p:nvSpPr>
        <p:spPr>
          <a:xfrm>
            <a:off x="11393424" y="502920"/>
            <a:ext cx="27432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7" name="demo step 1"/>
          <p:cNvSpPr/>
          <p:nvPr/>
        </p:nvSpPr>
        <p:spPr>
          <a:xfrm>
            <a:off x="548640" y="1536192"/>
            <a:ext cx="548640" cy="548640"/>
          </a:xfrm>
          <a:prstGeom prst="ellipse">
            <a:avLst/>
          </a:prstGeom>
          <a:solidFill>
            <a:srgbClr val="1E3B2F"/>
          </a:solidFill>
          <a:ln w="12700">
            <a:solidFill>
              <a:srgbClr val="1E3B2F"/>
            </a:solidFill>
            <a:prstDash val="solid"/>
          </a:ln>
        </p:spPr>
      </p:sp>
      <p:sp>
        <p:nvSpPr>
          <p:cNvPr id="8" name="Text 6"/>
          <p:cNvSpPr txBox="1"/>
          <p:nvPr/>
        </p:nvSpPr>
        <p:spPr>
          <a:xfrm>
            <a:off x="548640" y="1536192"/>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9" name="Text 7"/>
          <p:cNvSpPr txBox="1"/>
          <p:nvPr/>
        </p:nvSpPr>
        <p:spPr>
          <a:xfrm>
            <a:off x="1280160" y="1463040"/>
            <a:ext cx="4572000" cy="777240"/>
          </a:xfrm>
          <a:prstGeom prst="rect">
            <a:avLst/>
          </a:prstGeom>
          <a:noFill/>
          <a:ln/>
        </p:spPr>
        <p:txBody>
          <a:bodyPr wrap="square" lIns="0" tIns="0" rIns="0" bIns="0" rtlCol="0" anchor="t"/>
          <a:lstStyle/>
          <a:p>
            <a:pPr indent="0" marL="0">
              <a:buNone/>
            </a:pPr>
            <a:r>
              <a:rPr lang="en-US" sz="1800" b="1" dirty="0">
                <a:solidFill>
                  <a:srgbClr val="1E3B2F"/>
                </a:solidFill>
              </a:rPr>
              <a:t>Overview</a:t>
            </a:r>
            <a:endParaRPr lang="en-US" sz="1600" dirty="0"/>
          </a:p>
          <a:p>
            <a:pPr indent="0" marL="0">
              <a:buNone/>
            </a:pPr>
            <a:r>
              <a:rPr lang="en-US" sz="1500" dirty="0">
                <a:solidFill>
                  <a:srgbClr val="1C2B24"/>
                </a:solidFill>
              </a:rPr>
              <a:t>meter counter, rating, scopes</a:t>
            </a:r>
            <a:endParaRPr lang="en-US" sz="1600" dirty="0"/>
          </a:p>
        </p:txBody>
      </p:sp>
      <p:sp>
        <p:nvSpPr>
          <p:cNvPr id="10" name="demo step 2"/>
          <p:cNvSpPr/>
          <p:nvPr/>
        </p:nvSpPr>
        <p:spPr>
          <a:xfrm>
            <a:off x="548640" y="2450592"/>
            <a:ext cx="548640" cy="548640"/>
          </a:xfrm>
          <a:prstGeom prst="ellipse">
            <a:avLst/>
          </a:prstGeom>
          <a:solidFill>
            <a:srgbClr val="F2C230"/>
          </a:solidFill>
          <a:ln w="12700">
            <a:solidFill>
              <a:srgbClr val="F2C230"/>
            </a:solidFill>
            <a:prstDash val="solid"/>
          </a:ln>
        </p:spPr>
      </p:sp>
      <p:sp>
        <p:nvSpPr>
          <p:cNvPr id="11" name="Text 9"/>
          <p:cNvSpPr txBox="1"/>
          <p:nvPr/>
        </p:nvSpPr>
        <p:spPr>
          <a:xfrm>
            <a:off x="548640" y="2450592"/>
            <a:ext cx="548640" cy="548640"/>
          </a:xfrm>
          <a:prstGeom prst="rect">
            <a:avLst/>
          </a:prstGeom>
          <a:noFill/>
          <a:ln/>
        </p:spPr>
        <p:txBody>
          <a:bodyPr wrap="square" lIns="0" tIns="0" rIns="0" bIns="0" rtlCol="0" anchor="ctr"/>
          <a:lstStyle/>
          <a:p>
            <a:pPr algn="ctr" indent="0" marL="0">
              <a:buNone/>
            </a:pPr>
            <a:r>
              <a:rPr lang="en-US" sz="1800" b="1" dirty="0">
                <a:solidFill>
                  <a:srgbClr val="1C2B24"/>
                </a:solidFill>
              </a:rPr>
              <a:t>2</a:t>
            </a:r>
            <a:endParaRPr lang="en-US" sz="1800" dirty="0"/>
          </a:p>
        </p:txBody>
      </p:sp>
      <p:sp>
        <p:nvSpPr>
          <p:cNvPr id="12" name="Text 10"/>
          <p:cNvSpPr txBox="1"/>
          <p:nvPr/>
        </p:nvSpPr>
        <p:spPr>
          <a:xfrm>
            <a:off x="1280160" y="2377440"/>
            <a:ext cx="4572000" cy="777240"/>
          </a:xfrm>
          <a:prstGeom prst="rect">
            <a:avLst/>
          </a:prstGeom>
          <a:noFill/>
          <a:ln/>
        </p:spPr>
        <p:txBody>
          <a:bodyPr wrap="square" lIns="0" tIns="0" rIns="0" bIns="0" rtlCol="0" anchor="t"/>
          <a:lstStyle/>
          <a:p>
            <a:pPr indent="0" marL="0">
              <a:buNone/>
            </a:pPr>
            <a:r>
              <a:rPr lang="en-US" sz="1800" b="1" dirty="0">
                <a:solidFill>
                  <a:srgbClr val="1E3B2F"/>
                </a:solidFill>
              </a:rPr>
              <a:t>Log a reading</a:t>
            </a:r>
            <a:endParaRPr lang="en-US" sz="1600" dirty="0"/>
          </a:p>
          <a:p>
            <a:pPr indent="0" marL="0">
              <a:buNone/>
            </a:pPr>
            <a:r>
              <a:rPr lang="en-US" sz="1500" dirty="0">
                <a:solidFill>
                  <a:srgbClr val="1C2B24"/>
                </a:solidFill>
              </a:rPr>
              <a:t>6,100 kWh on ELEC-HSA-01</a:t>
            </a:r>
            <a:endParaRPr lang="en-US" sz="1600" dirty="0"/>
          </a:p>
        </p:txBody>
      </p:sp>
      <p:sp>
        <p:nvSpPr>
          <p:cNvPr id="13" name="demo step 3"/>
          <p:cNvSpPr/>
          <p:nvPr/>
        </p:nvSpPr>
        <p:spPr>
          <a:xfrm>
            <a:off x="548640" y="3364992"/>
            <a:ext cx="548640" cy="548640"/>
          </a:xfrm>
          <a:prstGeom prst="ellipse">
            <a:avLst/>
          </a:prstGeom>
          <a:solidFill>
            <a:srgbClr val="1E3B2F"/>
          </a:solidFill>
          <a:ln w="12700">
            <a:solidFill>
              <a:srgbClr val="1E3B2F"/>
            </a:solidFill>
            <a:prstDash val="solid"/>
          </a:ln>
        </p:spPr>
      </p:sp>
      <p:sp>
        <p:nvSpPr>
          <p:cNvPr id="14" name="Text 12"/>
          <p:cNvSpPr txBox="1"/>
          <p:nvPr/>
        </p:nvSpPr>
        <p:spPr>
          <a:xfrm>
            <a:off x="548640" y="3364992"/>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5" name="Text 13"/>
          <p:cNvSpPr txBox="1"/>
          <p:nvPr/>
        </p:nvSpPr>
        <p:spPr>
          <a:xfrm>
            <a:off x="1280160" y="3291840"/>
            <a:ext cx="4572000" cy="777240"/>
          </a:xfrm>
          <a:prstGeom prst="rect">
            <a:avLst/>
          </a:prstGeom>
          <a:noFill/>
          <a:ln/>
        </p:spPr>
        <p:txBody>
          <a:bodyPr wrap="square" lIns="0" tIns="0" rIns="0" bIns="0" rtlCol="0" anchor="t"/>
          <a:lstStyle/>
          <a:p>
            <a:pPr indent="0" marL="0">
              <a:buNone/>
            </a:pPr>
            <a:r>
              <a:rPr lang="en-US" sz="1800" b="1" dirty="0">
                <a:solidFill>
                  <a:srgbClr val="1E3B2F"/>
                </a:solidFill>
              </a:rPr>
              <a:t>Break the rules</a:t>
            </a:r>
            <a:endParaRPr lang="en-US" sz="1600" dirty="0"/>
          </a:p>
          <a:p>
            <a:pPr indent="0" marL="0">
              <a:buNone/>
            </a:pPr>
            <a:r>
              <a:rPr lang="en-US" sz="1500" dirty="0">
                <a:solidFill>
                  <a:srgbClr val="1C2B24"/>
                </a:solidFill>
              </a:rPr>
              <a:t>-50, tomorrow, same day twice</a:t>
            </a:r>
            <a:endParaRPr lang="en-US" sz="1600" dirty="0"/>
          </a:p>
        </p:txBody>
      </p:sp>
      <p:sp>
        <p:nvSpPr>
          <p:cNvPr id="16" name="demo step 4"/>
          <p:cNvSpPr/>
          <p:nvPr/>
        </p:nvSpPr>
        <p:spPr>
          <a:xfrm>
            <a:off x="548640" y="4279392"/>
            <a:ext cx="548640" cy="548640"/>
          </a:xfrm>
          <a:prstGeom prst="ellipse">
            <a:avLst/>
          </a:prstGeom>
          <a:solidFill>
            <a:srgbClr val="1E3B2F"/>
          </a:solidFill>
          <a:ln w="12700">
            <a:solidFill>
              <a:srgbClr val="1E3B2F"/>
            </a:solidFill>
            <a:prstDash val="solid"/>
          </a:ln>
        </p:spPr>
      </p:sp>
      <p:sp>
        <p:nvSpPr>
          <p:cNvPr id="17" name="Text 15"/>
          <p:cNvSpPr txBox="1"/>
          <p:nvPr/>
        </p:nvSpPr>
        <p:spPr>
          <a:xfrm>
            <a:off x="548640" y="4279392"/>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1280160" y="4206240"/>
            <a:ext cx="4572000" cy="777240"/>
          </a:xfrm>
          <a:prstGeom prst="rect">
            <a:avLst/>
          </a:prstGeom>
          <a:noFill/>
          <a:ln/>
        </p:spPr>
        <p:txBody>
          <a:bodyPr wrap="square" lIns="0" tIns="0" rIns="0" bIns="0" rtlCol="0" anchor="t"/>
          <a:lstStyle/>
          <a:p>
            <a:pPr indent="0" marL="0">
              <a:buNone/>
            </a:pPr>
            <a:r>
              <a:rPr lang="en-US" sz="1800" b="1" dirty="0">
                <a:solidFill>
                  <a:srgbClr val="1E3B2F"/>
                </a:solidFill>
              </a:rPr>
              <a:t>Edit the reading</a:t>
            </a:r>
            <a:endParaRPr lang="en-US" sz="1600" dirty="0"/>
          </a:p>
          <a:p>
            <a:pPr indent="0" marL="0">
              <a:buNone/>
            </a:pPr>
            <a:r>
              <a:rPr lang="en-US" sz="1500" dirty="0">
                <a:solidFill>
                  <a:srgbClr val="1C2B24"/>
                </a:solidFill>
              </a:rPr>
              <a:t>watch the carbon log change</a:t>
            </a:r>
            <a:endParaRPr lang="en-US" sz="1600" dirty="0"/>
          </a:p>
        </p:txBody>
      </p:sp>
      <p:sp>
        <p:nvSpPr>
          <p:cNvPr id="19" name="demo step 5"/>
          <p:cNvSpPr/>
          <p:nvPr/>
        </p:nvSpPr>
        <p:spPr>
          <a:xfrm>
            <a:off x="548640" y="5193792"/>
            <a:ext cx="548640" cy="548640"/>
          </a:xfrm>
          <a:prstGeom prst="ellipse">
            <a:avLst/>
          </a:prstGeom>
          <a:solidFill>
            <a:srgbClr val="1E3B2F"/>
          </a:solidFill>
          <a:ln w="12700">
            <a:solidFill>
              <a:srgbClr val="1E3B2F"/>
            </a:solidFill>
            <a:prstDash val="solid"/>
          </a:ln>
        </p:spPr>
      </p:sp>
      <p:sp>
        <p:nvSpPr>
          <p:cNvPr id="20" name="Text 18"/>
          <p:cNvSpPr txBox="1"/>
          <p:nvPr/>
        </p:nvSpPr>
        <p:spPr>
          <a:xfrm>
            <a:off x="548640" y="5193792"/>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1" name="Text 19"/>
          <p:cNvSpPr txBox="1"/>
          <p:nvPr/>
        </p:nvSpPr>
        <p:spPr>
          <a:xfrm>
            <a:off x="1280160" y="5120640"/>
            <a:ext cx="4572000" cy="777240"/>
          </a:xfrm>
          <a:prstGeom prst="rect">
            <a:avLst/>
          </a:prstGeom>
          <a:noFill/>
          <a:ln/>
        </p:spPr>
        <p:txBody>
          <a:bodyPr wrap="square" lIns="0" tIns="0" rIns="0" bIns="0" rtlCol="0" anchor="t"/>
          <a:lstStyle/>
          <a:p>
            <a:pPr indent="0" marL="0">
              <a:buNone/>
            </a:pPr>
            <a:r>
              <a:rPr lang="en-US" sz="1800" b="1" dirty="0">
                <a:solidFill>
                  <a:srgbClr val="1E3B2F"/>
                </a:solidFill>
              </a:rPr>
              <a:t>Delete</a:t>
            </a:r>
            <a:endParaRPr lang="en-US" sz="1600" dirty="0"/>
          </a:p>
          <a:p>
            <a:pPr indent="0" marL="0">
              <a:buNone/>
            </a:pPr>
            <a:r>
              <a:rPr lang="en-US" sz="1500" dirty="0">
                <a:solidFill>
                  <a:srgbClr val="1C2B24"/>
                </a:solidFill>
              </a:rPr>
              <a:t>Hostel Block A, then Grid Electricity</a:t>
            </a:r>
            <a:endParaRPr lang="en-US" sz="1600" dirty="0"/>
          </a:p>
        </p:txBody>
      </p:sp>
      <p:sp>
        <p:nvSpPr>
          <p:cNvPr id="22" name="demo step 6"/>
          <p:cNvSpPr/>
          <p:nvPr/>
        </p:nvSpPr>
        <p:spPr>
          <a:xfrm>
            <a:off x="6217920" y="1536192"/>
            <a:ext cx="548640" cy="548640"/>
          </a:xfrm>
          <a:prstGeom prst="ellipse">
            <a:avLst/>
          </a:prstGeom>
          <a:solidFill>
            <a:srgbClr val="1E3B2F"/>
          </a:solidFill>
          <a:ln w="12700">
            <a:solidFill>
              <a:srgbClr val="1E3B2F"/>
            </a:solidFill>
            <a:prstDash val="solid"/>
          </a:ln>
        </p:spPr>
      </p:sp>
      <p:sp>
        <p:nvSpPr>
          <p:cNvPr id="23" name="Text 21"/>
          <p:cNvSpPr txBox="1"/>
          <p:nvPr/>
        </p:nvSpPr>
        <p:spPr>
          <a:xfrm>
            <a:off x="6217920" y="1536192"/>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6</a:t>
            </a:r>
            <a:endParaRPr lang="en-US" sz="1800" dirty="0"/>
          </a:p>
        </p:txBody>
      </p:sp>
      <p:sp>
        <p:nvSpPr>
          <p:cNvPr id="24" name="Text 22"/>
          <p:cNvSpPr txBox="1"/>
          <p:nvPr/>
        </p:nvSpPr>
        <p:spPr>
          <a:xfrm>
            <a:off x="6949440" y="1463040"/>
            <a:ext cx="3291840" cy="777240"/>
          </a:xfrm>
          <a:prstGeom prst="rect">
            <a:avLst/>
          </a:prstGeom>
          <a:noFill/>
          <a:ln/>
        </p:spPr>
        <p:txBody>
          <a:bodyPr wrap="square" lIns="0" tIns="0" rIns="0" bIns="0" rtlCol="0" anchor="t"/>
          <a:lstStyle/>
          <a:p>
            <a:pPr indent="0" marL="0">
              <a:buNone/>
            </a:pPr>
            <a:r>
              <a:rPr lang="en-US" sz="1800" b="1" dirty="0">
                <a:solidFill>
                  <a:srgbClr val="1E3B2F"/>
                </a:solidFill>
              </a:rPr>
              <a:t>Search</a:t>
            </a:r>
            <a:endParaRPr lang="en-US" sz="1600" dirty="0"/>
          </a:p>
          <a:p>
            <a:pPr indent="0" marL="0">
              <a:buNone/>
            </a:pPr>
            <a:r>
              <a:rPr lang="en-US" sz="1500" dirty="0">
                <a:solidFill>
                  <a:srgbClr val="1C2B24"/>
                </a:solidFill>
              </a:rPr>
              <a:t>2 Sep, consumption 5,000 or more</a:t>
            </a:r>
            <a:endParaRPr lang="en-US" sz="1600" dirty="0"/>
          </a:p>
        </p:txBody>
      </p:sp>
      <p:sp>
        <p:nvSpPr>
          <p:cNvPr id="25" name="demo step 7"/>
          <p:cNvSpPr/>
          <p:nvPr/>
        </p:nvSpPr>
        <p:spPr>
          <a:xfrm>
            <a:off x="6217920" y="2450592"/>
            <a:ext cx="548640" cy="548640"/>
          </a:xfrm>
          <a:prstGeom prst="ellipse">
            <a:avLst/>
          </a:prstGeom>
          <a:solidFill>
            <a:srgbClr val="1E3B2F"/>
          </a:solidFill>
          <a:ln w="12700">
            <a:solidFill>
              <a:srgbClr val="1E3B2F"/>
            </a:solidFill>
            <a:prstDash val="solid"/>
          </a:ln>
        </p:spPr>
      </p:sp>
      <p:sp>
        <p:nvSpPr>
          <p:cNvPr id="26" name="Text 24"/>
          <p:cNvSpPr txBox="1"/>
          <p:nvPr/>
        </p:nvSpPr>
        <p:spPr>
          <a:xfrm>
            <a:off x="6217920" y="2450592"/>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7</a:t>
            </a:r>
            <a:endParaRPr lang="en-US" sz="1800" dirty="0"/>
          </a:p>
        </p:txBody>
      </p:sp>
      <p:sp>
        <p:nvSpPr>
          <p:cNvPr id="27" name="Text 25"/>
          <p:cNvSpPr txBox="1"/>
          <p:nvPr/>
        </p:nvSpPr>
        <p:spPr>
          <a:xfrm>
            <a:off x="6949440" y="2377440"/>
            <a:ext cx="3291840" cy="777240"/>
          </a:xfrm>
          <a:prstGeom prst="rect">
            <a:avLst/>
          </a:prstGeom>
          <a:noFill/>
          <a:ln/>
        </p:spPr>
        <p:txBody>
          <a:bodyPr wrap="square" lIns="0" tIns="0" rIns="0" bIns="0" rtlCol="0" anchor="t"/>
          <a:lstStyle/>
          <a:p>
            <a:pPr indent="0" marL="0">
              <a:buNone/>
            </a:pPr>
            <a:r>
              <a:rPr lang="en-US" sz="1800" b="1" dirty="0">
                <a:solidFill>
                  <a:srgbClr val="1E3B2F"/>
                </a:solidFill>
              </a:rPr>
              <a:t>Queries</a:t>
            </a:r>
            <a:endParaRPr lang="en-US" sz="1600" dirty="0"/>
          </a:p>
          <a:p>
            <a:pPr indent="0" marL="0">
              <a:buNone/>
            </a:pPr>
            <a:r>
              <a:rPr lang="en-US" sz="1500" dirty="0">
                <a:solidFill>
                  <a:srgbClr val="1C2B24"/>
                </a:solidFill>
              </a:rPr>
              <a:t>one typed live in the console</a:t>
            </a:r>
            <a:endParaRPr lang="en-US" sz="1600" dirty="0"/>
          </a:p>
        </p:txBody>
      </p:sp>
      <p:sp>
        <p:nvSpPr>
          <p:cNvPr id="28" name="demo step 8"/>
          <p:cNvSpPr/>
          <p:nvPr/>
        </p:nvSpPr>
        <p:spPr>
          <a:xfrm>
            <a:off x="6217920" y="3364992"/>
            <a:ext cx="548640" cy="548640"/>
          </a:xfrm>
          <a:prstGeom prst="ellipse">
            <a:avLst/>
          </a:prstGeom>
          <a:solidFill>
            <a:srgbClr val="1E3B2F"/>
          </a:solidFill>
          <a:ln w="12700">
            <a:solidFill>
              <a:srgbClr val="1E3B2F"/>
            </a:solidFill>
            <a:prstDash val="solid"/>
          </a:ln>
        </p:spPr>
      </p:sp>
      <p:sp>
        <p:nvSpPr>
          <p:cNvPr id="29" name="Text 27"/>
          <p:cNvSpPr txBox="1"/>
          <p:nvPr/>
        </p:nvSpPr>
        <p:spPr>
          <a:xfrm>
            <a:off x="6217920" y="3364992"/>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8</a:t>
            </a:r>
            <a:endParaRPr lang="en-US" sz="1800" dirty="0"/>
          </a:p>
        </p:txBody>
      </p:sp>
      <p:sp>
        <p:nvSpPr>
          <p:cNvPr id="30" name="Text 28"/>
          <p:cNvSpPr txBox="1"/>
          <p:nvPr/>
        </p:nvSpPr>
        <p:spPr>
          <a:xfrm>
            <a:off x="6949440" y="3291840"/>
            <a:ext cx="3291840" cy="777240"/>
          </a:xfrm>
          <a:prstGeom prst="rect">
            <a:avLst/>
          </a:prstGeom>
          <a:noFill/>
          <a:ln/>
        </p:spPr>
        <p:txBody>
          <a:bodyPr wrap="square" lIns="0" tIns="0" rIns="0" bIns="0" rtlCol="0" anchor="t"/>
          <a:lstStyle/>
          <a:p>
            <a:pPr indent="0" marL="0">
              <a:buNone/>
            </a:pPr>
            <a:r>
              <a:rPr lang="en-US" sz="1800" b="1" dirty="0">
                <a:solidFill>
                  <a:srgbClr val="1E3B2F"/>
                </a:solidFill>
              </a:rPr>
              <a:t>Audit report</a:t>
            </a:r>
            <a:endParaRPr lang="en-US" sz="1600" dirty="0"/>
          </a:p>
          <a:p>
            <a:pPr indent="0" marL="0">
              <a:buNone/>
            </a:pPr>
            <a:r>
              <a:rPr lang="en-US" sz="1500" dirty="0">
                <a:solidFill>
                  <a:srgbClr val="1C2B24"/>
                </a:solidFill>
              </a:rPr>
              <a:t>1 to 2 Sep, download CSV</a:t>
            </a:r>
            <a:endParaRPr lang="en-US" sz="1600" dirty="0"/>
          </a:p>
        </p:txBody>
      </p:sp>
      <p:sp>
        <p:nvSpPr>
          <p:cNvPr id="31" name="demo step 9"/>
          <p:cNvSpPr/>
          <p:nvPr/>
        </p:nvSpPr>
        <p:spPr>
          <a:xfrm>
            <a:off x="6217920" y="4279392"/>
            <a:ext cx="548640" cy="548640"/>
          </a:xfrm>
          <a:prstGeom prst="ellipse">
            <a:avLst/>
          </a:prstGeom>
          <a:solidFill>
            <a:srgbClr val="1E3B2F"/>
          </a:solidFill>
          <a:ln w="12700">
            <a:solidFill>
              <a:srgbClr val="1E3B2F"/>
            </a:solidFill>
            <a:prstDash val="solid"/>
          </a:ln>
        </p:spPr>
      </p:sp>
      <p:sp>
        <p:nvSpPr>
          <p:cNvPr id="32" name="Text 30"/>
          <p:cNvSpPr txBox="1"/>
          <p:nvPr/>
        </p:nvSpPr>
        <p:spPr>
          <a:xfrm>
            <a:off x="6217920" y="4279392"/>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9</a:t>
            </a:r>
            <a:endParaRPr lang="en-US" sz="1800" dirty="0"/>
          </a:p>
        </p:txBody>
      </p:sp>
      <p:sp>
        <p:nvSpPr>
          <p:cNvPr id="33" name="Text 31"/>
          <p:cNvSpPr txBox="1"/>
          <p:nvPr/>
        </p:nvSpPr>
        <p:spPr>
          <a:xfrm>
            <a:off x="6949440" y="4206240"/>
            <a:ext cx="3291840" cy="777240"/>
          </a:xfrm>
          <a:prstGeom prst="rect">
            <a:avLst/>
          </a:prstGeom>
          <a:noFill/>
          <a:ln/>
        </p:spPr>
        <p:txBody>
          <a:bodyPr wrap="square" lIns="0" tIns="0" rIns="0" bIns="0" rtlCol="0" anchor="t"/>
          <a:lstStyle/>
          <a:p>
            <a:pPr indent="0" marL="0">
              <a:buNone/>
            </a:pPr>
            <a:r>
              <a:rPr lang="en-US" sz="1800" b="1" dirty="0">
                <a:solidFill>
                  <a:srgbClr val="1E3B2F"/>
                </a:solidFill>
              </a:rPr>
              <a:t>Tests</a:t>
            </a:r>
            <a:endParaRPr lang="en-US" sz="1600" dirty="0"/>
          </a:p>
          <a:p>
            <a:pPr indent="0" marL="0">
              <a:buNone/>
            </a:pPr>
            <a:r>
              <a:rPr lang="en-US" sz="1500" dirty="0">
                <a:solidFill>
                  <a:srgbClr val="1C2B24"/>
                </a:solidFill>
              </a:rPr>
              <a:t>python -m pytest -v</a:t>
            </a:r>
            <a:endParaRPr lang="en-US" sz="1600" dirty="0"/>
          </a:p>
        </p:txBody>
      </p:sp>
      <p:pic>
        <p:nvPicPr>
          <p:cNvPr id="34" name="Image 0" descr="mob screenshot">    </p:cNvPr>
          <p:cNvPicPr>
            <a:picLocks noChangeAspect="1"/>
          </p:cNvPicPr>
          <p:nvPr/>
        </p:nvPicPr>
        <p:blipFill>
          <a:blip r:embed="rId1"/>
          <a:stretch>
            <a:fillRect/>
          </a:stretch>
        </p:blipFill>
        <p:spPr>
          <a:xfrm>
            <a:off x="10381706" y="1600200"/>
            <a:ext cx="1273629" cy="3429000"/>
          </a:xfrm>
          <a:prstGeom prst="rect">
            <a:avLst/>
          </a:prstGeom>
          <a:effectLst>
            <a:outerShdw sx="100000" sy="100000" kx="0" ky="0" algn="bl" rotWithShape="0" blurRad="101600" dist="25400" dir="5400000">
              <a:srgbClr val="1C2B24">
                <a:alpha val="18000"/>
              </a:srgbClr>
            </a:outerShdw>
          </a:effectLst>
        </p:spPr>
      </p:pic>
      <p:sp>
        <p:nvSpPr>
          <p:cNvPr id="35" name="mob frame"/>
          <p:cNvSpPr/>
          <p:nvPr/>
        </p:nvSpPr>
        <p:spPr>
          <a:xfrm>
            <a:off x="10381706" y="1600200"/>
            <a:ext cx="1273629" cy="3429000"/>
          </a:xfrm>
          <a:prstGeom prst="rect">
            <a:avLst/>
          </a:prstGeom>
          <a:ln w="9525">
            <a:solidFill>
              <a:srgbClr val="D3DCD5"/>
            </a:solidFill>
            <a:prstDash val="solid"/>
          </a:ln>
        </p:spPr>
      </p:sp>
      <p:sp>
        <p:nvSpPr>
          <p:cNvPr id="36" name="Text 33"/>
          <p:cNvSpPr txBox="1"/>
          <p:nvPr/>
        </p:nvSpPr>
        <p:spPr>
          <a:xfrm>
            <a:off x="9418320" y="5166360"/>
            <a:ext cx="2240280" cy="274320"/>
          </a:xfrm>
          <a:prstGeom prst="rect">
            <a:avLst/>
          </a:prstGeom>
          <a:noFill/>
          <a:ln/>
        </p:spPr>
        <p:txBody>
          <a:bodyPr wrap="square" lIns="0" tIns="0" rIns="0" bIns="0" rtlCol="0" anchor="t"/>
          <a:lstStyle/>
          <a:p>
            <a:pPr algn="r" indent="0" marL="0">
              <a:buNone/>
            </a:pPr>
            <a:r>
              <a:rPr lang="en-US" sz="1100" i="1" dirty="0">
                <a:solidFill>
                  <a:srgbClr val="5E6F66"/>
                </a:solidFill>
              </a:rPr>
              <a:t>Works on a phone too</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6583680" cy="2194560"/>
          </a:xfrm>
          <a:prstGeom prst="rect">
            <a:avLst/>
          </a:prstGeom>
          <a:noFill/>
          <a:ln/>
        </p:spPr>
        <p:txBody>
          <a:bodyPr wrap="square" lIns="0" tIns="0" rIns="0" bIns="0" rtlCol="0" anchor="t"/>
          <a:lstStyle/>
          <a:p>
            <a:pPr algn="l" indent="0" marL="0">
              <a:buNone/>
            </a:pPr>
            <a:r>
              <a:rPr lang="en-US" sz="4000" b="1" dirty="0">
                <a:solidFill>
                  <a:schemeClr val="bg1"/>
                </a:solidFill>
              </a:rPr>
              <a:t>Thank you. Questions?</a:t>
            </a:r>
            <a:endParaRPr lang="en-US" sz="4000" dirty="0"/>
          </a:p>
        </p:txBody>
      </p:sp>
      <p:sp>
        <p:nvSpPr>
          <p:cNvPr id="3" name="meter digit 0"/>
          <p:cNvSpPr/>
          <p:nvPr/>
        </p:nvSpPr>
        <p:spPr>
          <a:xfrm>
            <a:off x="11091672" y="502920"/>
            <a:ext cx="274320" cy="402336"/>
          </a:xfrm>
          <a:prstGeom prst="roundRect">
            <a:avLst>
              <a:gd name="adj" fmla="val 13333"/>
            </a:avLst>
          </a:prstGeom>
          <a:solidFill>
            <a:srgbClr val="0E1C16"/>
          </a:solidFill>
          <a:ln w="6350">
            <a:solidFill>
              <a:srgbClr val="000000"/>
            </a:solidFill>
            <a:prstDash val="solid"/>
          </a:ln>
        </p:spPr>
      </p:sp>
      <p:sp>
        <p:nvSpPr>
          <p:cNvPr id="4" name="Text 2"/>
          <p:cNvSpPr txBox="1"/>
          <p:nvPr/>
        </p:nvSpPr>
        <p:spPr>
          <a:xfrm>
            <a:off x="11091672" y="502920"/>
            <a:ext cx="27432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5" name="meter digit 1"/>
          <p:cNvSpPr/>
          <p:nvPr/>
        </p:nvSpPr>
        <p:spPr>
          <a:xfrm>
            <a:off x="11393424" y="502920"/>
            <a:ext cx="274320" cy="402336"/>
          </a:xfrm>
          <a:prstGeom prst="roundRect">
            <a:avLst>
              <a:gd name="adj" fmla="val 13333"/>
            </a:avLst>
          </a:prstGeom>
          <a:solidFill>
            <a:srgbClr val="C8371E"/>
          </a:solidFill>
          <a:ln w="6350">
            <a:solidFill>
              <a:srgbClr val="000000"/>
            </a:solidFill>
            <a:prstDash val="solid"/>
          </a:ln>
        </p:spPr>
      </p:sp>
      <p:sp>
        <p:nvSpPr>
          <p:cNvPr id="6" name="Text 4"/>
          <p:cNvSpPr txBox="1"/>
          <p:nvPr/>
        </p:nvSpPr>
        <p:spPr>
          <a:xfrm>
            <a:off x="11393424" y="502920"/>
            <a:ext cx="27432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7" name="Text 5"/>
          <p:cNvSpPr txBox="1"/>
          <p:nvPr/>
        </p:nvSpPr>
        <p:spPr>
          <a:xfrm>
            <a:off x="640080" y="2926080"/>
            <a:ext cx="5943600" cy="411480"/>
          </a:xfrm>
          <a:prstGeom prst="rect">
            <a:avLst/>
          </a:prstGeom>
          <a:noFill/>
          <a:ln/>
        </p:spPr>
        <p:txBody>
          <a:bodyPr wrap="square" lIns="0" tIns="0" rIns="0" bIns="0" rtlCol="0" anchor="t"/>
          <a:lstStyle/>
          <a:p>
            <a:pPr indent="0" marL="0">
              <a:buNone/>
            </a:pPr>
            <a:r>
              <a:rPr lang="en-US" sz="1800" b="1" dirty="0">
                <a:solidFill>
                  <a:srgbClr val="F2C230"/>
                </a:solidFill>
              </a:rPr>
              <a:t>What we'd add with more time</a:t>
            </a:r>
            <a:endParaRPr lang="en-US" sz="1800" dirty="0"/>
          </a:p>
        </p:txBody>
      </p:sp>
      <p:sp>
        <p:nvSpPr>
          <p:cNvPr id="8" name="Text 6"/>
          <p:cNvSpPr txBox="1"/>
          <p:nvPr/>
        </p:nvSpPr>
        <p:spPr>
          <a:xfrm>
            <a:off x="640080" y="3429000"/>
            <a:ext cx="6035040" cy="2011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FFFFFF"/>
                </a:solidFill>
              </a:rPr>
              <a:t>Logins, so only facilities staff can delete records</a:t>
            </a:r>
            <a:endParaRPr lang="en-US" sz="1600" dirty="0"/>
          </a:p>
          <a:p>
            <a:pPr marL="342900" indent="-342900">
              <a:spcAft>
                <a:spcPts val="800"/>
              </a:spcAft>
              <a:buSzPct val="100000"/>
              <a:buChar char="•"/>
            </a:pPr>
            <a:r>
              <a:rPr lang="en-US" sz="1600" dirty="0">
                <a:solidFill>
                  <a:srgbClr val="FFFFFF"/>
                </a:solidFill>
              </a:rPr>
              <a:t>Readings pulled from smart meters through an API</a:t>
            </a:r>
            <a:endParaRPr lang="en-US" sz="1600" dirty="0"/>
          </a:p>
          <a:p>
            <a:pPr marL="342900" indent="-342900">
              <a:spcAft>
                <a:spcPts val="800"/>
              </a:spcAft>
              <a:buSzPct val="100000"/>
              <a:buChar char="•"/>
            </a:pPr>
            <a:r>
              <a:rPr lang="en-US" sz="1600" dirty="0">
                <a:solidFill>
                  <a:srgbClr val="FFFFFF"/>
                </a:solidFill>
              </a:rPr>
              <a:t>A department_emails table for several contacts</a:t>
            </a:r>
            <a:endParaRPr lang="en-US" sz="1600" dirty="0"/>
          </a:p>
          <a:p>
            <a:pPr marL="342900" indent="-342900">
              <a:spcAft>
                <a:spcPts val="800"/>
              </a:spcAft>
              <a:buSzPct val="100000"/>
              <a:buChar char="•"/>
            </a:pPr>
            <a:r>
              <a:rPr lang="en-US" sz="1600" dirty="0">
                <a:solidFill>
                  <a:srgbClr val="FFFFFF"/>
                </a:solidFill>
              </a:rPr>
              <a:t>Monthly trends once there's more than three days of data</a:t>
            </a:r>
            <a:endParaRPr lang="en-US" sz="1600" dirty="0"/>
          </a:p>
        </p:txBody>
      </p:sp>
      <p:sp>
        <p:nvSpPr>
          <p:cNvPr id="9" name="link box"/>
          <p:cNvSpPr/>
          <p:nvPr/>
        </p:nvSpPr>
        <p:spPr>
          <a:xfrm>
            <a:off x="7315200" y="2926080"/>
            <a:ext cx="4343400" cy="2377440"/>
          </a:xfrm>
          <a:prstGeom prst="roundRect">
            <a:avLst>
              <a:gd name="adj" fmla="val 4615"/>
            </a:avLst>
          </a:prstGeom>
          <a:solidFill>
            <a:srgbClr val="0E1C16"/>
          </a:solidFill>
          <a:ln w="12700">
            <a:solidFill>
              <a:srgbClr val="0E1C16"/>
            </a:solidFill>
            <a:prstDash val="solid"/>
          </a:ln>
        </p:spPr>
      </p:sp>
      <p:sp>
        <p:nvSpPr>
          <p:cNvPr id="10" name="Text 8"/>
          <p:cNvSpPr txBox="1"/>
          <p:nvPr/>
        </p:nvSpPr>
        <p:spPr>
          <a:xfrm>
            <a:off x="7589520" y="3154680"/>
            <a:ext cx="3840480" cy="365760"/>
          </a:xfrm>
          <a:prstGeom prst="rect">
            <a:avLst/>
          </a:prstGeom>
          <a:noFill/>
          <a:ln/>
        </p:spPr>
        <p:txBody>
          <a:bodyPr wrap="square" lIns="0" tIns="0" rIns="0" bIns="0" rtlCol="0" anchor="t"/>
          <a:lstStyle/>
          <a:p>
            <a:pPr indent="0" marL="0">
              <a:buNone/>
            </a:pPr>
            <a:r>
              <a:rPr lang="en-US" sz="1600" b="1" dirty="0">
                <a:solidFill>
                  <a:srgbClr val="F2C230"/>
                </a:solidFill>
              </a:rPr>
              <a:t>Code, SQL and tests</a:t>
            </a:r>
            <a:endParaRPr lang="en-US" sz="1600" dirty="0"/>
          </a:p>
        </p:txBody>
      </p:sp>
      <p:sp>
        <p:nvSpPr>
          <p:cNvPr id="11" name="Text 9"/>
          <p:cNvSpPr txBox="1"/>
          <p:nvPr/>
        </p:nvSpPr>
        <p:spPr>
          <a:xfrm>
            <a:off x="7589520" y="3611880"/>
            <a:ext cx="3886200" cy="822960"/>
          </a:xfrm>
          <a:prstGeom prst="rect">
            <a:avLst/>
          </a:prstGeom>
          <a:noFill/>
          <a:ln/>
        </p:spPr>
        <p:txBody>
          <a:bodyPr wrap="square" lIns="0" tIns="0" rIns="0" bIns="0" rtlCol="0" anchor="t"/>
          <a:lstStyle/>
          <a:p>
            <a:pPr indent="0" marL="0">
              <a:buNone/>
            </a:pPr>
            <a:r>
              <a:rPr lang="en-US" sz="1800" u="sng" dirty="0">
                <a:solidFill>
                  <a:srgbClr val="FFFFFF"/>
                </a:solidFill>
                <a:hlinkClick r:id="rId1" invalidUrl="" action="" tgtFrame="" tooltip="" history="1" highlightClick="0" endSnd="0">
                  <a:extLst>
                    <a:ext uri="{A12FA001-AC4F-418D-AE19-62706E023703}">
                      <ahyp:hlinkClr xmlns:ahyp="http://schemas.microsoft.com/office/drawing/2018/hyperlinkcolor" val="tx"/>
                    </a:ext>
                  </a:extLst>
                </a:hlinkClick>
              </a:rPr>
              <a:t>github.com/abitha7-glitch/</a:t>
            </a:r>
            <a:endParaRPr lang="en-US" sz="1800" dirty="0"/>
          </a:p>
          <a:p>
            <a:pPr indent="0" marL="0">
              <a:buNone/>
            </a:pPr>
            <a:r>
              <a:rPr lang="en-US" sz="1800" u="sng" dirty="0">
                <a:solidFill>
                  <a:srgbClr val="FFFFFF"/>
                </a:solidFill>
                <a:hlinkClick r:id="rId2" invalidUrl="" action="" tgtFrame="" tooltip="" history="1" highlightClick="0" endSnd="0">
                  <a:extLst>
                    <a:ext uri="{A12FA001-AC4F-418D-AE19-62706E023703}">
                      <ahyp:hlinkClr xmlns:ahyp="http://schemas.microsoft.com/office/drawing/2018/hyperlinkcolor" val="tx"/>
                    </a:ext>
                  </a:extLst>
                </a:hlinkClick>
              </a:rPr>
              <a:t>green_campus_tracker</a:t>
            </a:r>
            <a:endParaRPr lang="en-US" sz="1800" dirty="0"/>
          </a:p>
        </p:txBody>
      </p:sp>
      <p:sp>
        <p:nvSpPr>
          <p:cNvPr id="12" name="Text 10"/>
          <p:cNvSpPr txBox="1"/>
          <p:nvPr/>
        </p:nvSpPr>
        <p:spPr>
          <a:xfrm>
            <a:off x="7589520" y="4663440"/>
            <a:ext cx="3840480" cy="365760"/>
          </a:xfrm>
          <a:prstGeom prst="rect">
            <a:avLst/>
          </a:prstGeom>
          <a:noFill/>
          <a:ln/>
        </p:spPr>
        <p:txBody>
          <a:bodyPr wrap="square" lIns="0" tIns="0" rIns="0" bIns="0" rtlCol="0" anchor="t"/>
          <a:lstStyle/>
          <a:p>
            <a:pPr indent="0" marL="0">
              <a:buNone/>
            </a:pPr>
            <a:r>
              <a:rPr lang="en-US" sz="1400" dirty="0">
                <a:solidFill>
                  <a:srgbClr val="C9D6CE"/>
                </a:solidFill>
              </a:rPr>
              <a:t>Report: Review3_Final_Report.docx</a:t>
            </a:r>
            <a:endParaRPr lang="en-US" sz="1400" dirty="0"/>
          </a:p>
        </p:txBody>
      </p:sp>
      <p:sp>
        <p:nvSpPr>
          <p:cNvPr id="13" name="Text 11"/>
          <p:cNvSpPr txBox="1"/>
          <p:nvPr/>
        </p:nvSpPr>
        <p:spPr>
          <a:xfrm>
            <a:off x="640080" y="6035040"/>
            <a:ext cx="8229600" cy="320040"/>
          </a:xfrm>
          <a:prstGeom prst="rect">
            <a:avLst/>
          </a:prstGeom>
          <a:noFill/>
          <a:ln/>
        </p:spPr>
        <p:txBody>
          <a:bodyPr wrap="square" lIns="0" tIns="0" rIns="0" bIns="0" rtlCol="0" anchor="t"/>
          <a:lstStyle/>
          <a:p>
            <a:pPr indent="0" marL="0">
              <a:buNone/>
            </a:pPr>
            <a:r>
              <a:rPr lang="en-US" sz="1300" dirty="0">
                <a:solidFill>
                  <a:srgbClr val="9FB4A8"/>
                </a:solidFill>
              </a:rPr>
              <a:t>Abitha Laxmi P   Vishnunarayan Praveen   Daksh Bharath Singoor</a:t>
            </a:r>
            <a:endParaRPr lang="en-US" sz="1300" dirty="0"/>
          </a:p>
        </p:txBody>
      </p:sp>
    </p:spTree>
  </p:cSld>
  <p:clrMapOvr>
    <a:masterClrMapping/>
  </p:clrMapOvr>
</p:sld>
</file>

<file path=ppt/theme/theme1.xml><?xml version="1.0" encoding="utf-8"?>
<a:theme xmlns:a="http://schemas.openxmlformats.org/drawingml/2006/main" name="Green Campus">
  <a:themeElements>
    <a:clrScheme name="Green Campus">
      <a:dk1>
        <a:srgbClr val="1C2B24"/>
      </a:dk1>
      <a:lt1>
        <a:srgbClr val="FFFFFF"/>
      </a:lt1>
      <a:dk2>
        <a:srgbClr val="1E3B2F"/>
      </a:dk2>
      <a:lt2>
        <a:srgbClr val="EDF1EC"/>
      </a:lt2>
      <a:accent1>
        <a:srgbClr val="2B5141"/>
      </a:accent1>
      <a:accent2>
        <a:srgbClr val="F2C230"/>
      </a:accent2>
      <a:accent3>
        <a:srgbClr val="D9822B"/>
      </a:accent3>
      <a:accent4>
        <a:srgbClr val="3D6E9E"/>
      </a:accent4>
      <a:accent5>
        <a:srgbClr val="8A7FA8"/>
      </a:accent5>
      <a:accent6>
        <a:srgbClr val="C8371E"/>
      </a:accent6>
      <a:hlink>
        <a:srgbClr val="2B5141"/>
      </a:hlink>
      <a:folHlink>
        <a:srgbClr val="5E6F66"/>
      </a:folHlink>
    </a:clrScheme>
    <a:fontScheme name="Green Campu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Campus Carbon Footprint &amp; Energy Audit Tracker - Review 3</dc:title>
  <dc:subject>PptxGenJS Presentation</dc:subject>
  <dc:creator>Abitha Laxmi P, Vishnunarayan Praveen, Daksh Bharath Singoor</dc:creator>
  <cp:lastModifiedBy>Abitha Laxmi P, Vishnunarayan Praveen, Daksh Bharath Singoor</cp:lastModifiedBy>
  <cp:revision>1</cp:revision>
  <dcterms:created xsi:type="dcterms:W3CDTF">2026-10-21T10:36:09Z</dcterms:created>
  <dcterms:modified xsi:type="dcterms:W3CDTF">2026-10-21T10:36:09Z</dcterms:modified>
</cp:coreProperties>
</file>